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5" r:id="rId5"/>
    <p:sldId id="266" r:id="rId6"/>
    <p:sldId id="267" r:id="rId7"/>
    <p:sldId id="268" r:id="rId8"/>
    <p:sldId id="269" r:id="rId9"/>
    <p:sldId id="270" r:id="rId10"/>
    <p:sldId id="271" r:id="rId11"/>
    <p:sldId id="2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547F"/>
    <a:srgbClr val="AD0101"/>
    <a:srgbClr val="BD0100"/>
    <a:srgbClr val="BA0001"/>
    <a:srgbClr val="E00000"/>
    <a:srgbClr val="AA0001"/>
    <a:srgbClr val="A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c\Desktop\NextHikes%20IT%20Solutions%20Bike%20Sharing%20Demand%20Analysis%20Project%20Us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c\Desktop\NextHikes%20IT%20Solutions%20Bike%20Sharing%20Demand%20Analysis%20Project%20Us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c\Desktop\NextHikes%20IT%20Solutions%20Bike%20Sharing%20Demand%20Analysis%20Project%20Using.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c\Desktop\NextHikes%20IT%20Solutions%20Bike%20Sharing%20Demand%20Analysis%20Project%20Using.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[NextHikes IT Solutions Bike Sharing Demand Analysis Project Using.xlsx]Analysis with Pivot Tables!PivotTable12</c:name>
    <c:fmtId val="8"/>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600" b="1" i="0" u="none" strike="noStrike" baseline="0"/>
              <a:t>Rentals over time</a:t>
            </a:r>
            <a:endParaRPr lang="en-US" b="1"/>
          </a:p>
        </c:rich>
      </c:tx>
      <c:layout>
        <c:manualLayout>
          <c:xMode val="edge"/>
          <c:yMode val="edge"/>
          <c:x val="0.33004855643044617"/>
          <c:y val="3.6016331291921846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'Analysis with Pivot Tables'!$B$2</c:f>
              <c:strCache>
                <c:ptCount val="1"/>
                <c:pt idx="0">
                  <c:v>Total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 with Pivot Tables'!$A$3:$A$27</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'Analysis with Pivot Tables'!$B$3:$B$27</c:f>
              <c:numCache>
                <c:formatCode>0</c:formatCode>
                <c:ptCount val="24"/>
                <c:pt idx="0">
                  <c:v>16.348837209302324</c:v>
                </c:pt>
                <c:pt idx="1">
                  <c:v>10.697674418604651</c:v>
                </c:pt>
                <c:pt idx="2">
                  <c:v>7.1707317073170733</c:v>
                </c:pt>
                <c:pt idx="3">
                  <c:v>4.870967741935484</c:v>
                </c:pt>
                <c:pt idx="4">
                  <c:v>2.15625</c:v>
                </c:pt>
                <c:pt idx="5">
                  <c:v>4.2051282051282053</c:v>
                </c:pt>
                <c:pt idx="6">
                  <c:v>19.571428571428573</c:v>
                </c:pt>
                <c:pt idx="7">
                  <c:v>54.395348837209305</c:v>
                </c:pt>
                <c:pt idx="8">
                  <c:v>128.28571428571428</c:v>
                </c:pt>
                <c:pt idx="9">
                  <c:v>87.428571428571431</c:v>
                </c:pt>
                <c:pt idx="10">
                  <c:v>53.642857142857146</c:v>
                </c:pt>
                <c:pt idx="11">
                  <c:v>59.38095238095238</c:v>
                </c:pt>
                <c:pt idx="12">
                  <c:v>76.348837209302332</c:v>
                </c:pt>
                <c:pt idx="13">
                  <c:v>78.511627906976742</c:v>
                </c:pt>
                <c:pt idx="14">
                  <c:v>74.418604651162795</c:v>
                </c:pt>
                <c:pt idx="15">
                  <c:v>77.95348837209302</c:v>
                </c:pt>
                <c:pt idx="16">
                  <c:v>89.272727272727266</c:v>
                </c:pt>
                <c:pt idx="17">
                  <c:v>140.20454545454547</c:v>
                </c:pt>
                <c:pt idx="18">
                  <c:v>122.86046511627907</c:v>
                </c:pt>
                <c:pt idx="19">
                  <c:v>85.139534883720927</c:v>
                </c:pt>
                <c:pt idx="20">
                  <c:v>61.767441860465119</c:v>
                </c:pt>
                <c:pt idx="21">
                  <c:v>46.418604651162788</c:v>
                </c:pt>
                <c:pt idx="22">
                  <c:v>35.069767441860463</c:v>
                </c:pt>
                <c:pt idx="23">
                  <c:v>25.186046511627907</c:v>
                </c:pt>
              </c:numCache>
            </c:numRef>
          </c:val>
          <c:smooth val="0"/>
          <c:extLst>
            <c:ext xmlns:c16="http://schemas.microsoft.com/office/drawing/2014/chart" uri="{C3380CC4-5D6E-409C-BE32-E72D297353CC}">
              <c16:uniqueId val="{00000000-A79F-4A91-B8BB-B68FA518DDBC}"/>
            </c:ext>
          </c:extLst>
        </c:ser>
        <c:dLbls>
          <c:dLblPos val="t"/>
          <c:showLegendKey val="0"/>
          <c:showVal val="1"/>
          <c:showCatName val="0"/>
          <c:showSerName val="0"/>
          <c:showPercent val="0"/>
          <c:showBubbleSize val="0"/>
        </c:dLbls>
        <c:upDownBars>
          <c:gapWidth val="150"/>
          <c:upBars>
            <c:spPr>
              <a:solidFill>
                <a:schemeClr val="lt1"/>
              </a:solidFill>
              <a:ln w="9525">
                <a:solidFill>
                  <a:schemeClr val="tx1">
                    <a:lumMod val="15000"/>
                    <a:lumOff val="85000"/>
                  </a:schemeClr>
                </a:solidFill>
              </a:ln>
              <a:effectLst/>
            </c:spPr>
          </c:upBars>
          <c:downBars>
            <c:spPr>
              <a:solidFill>
                <a:schemeClr val="dk1">
                  <a:lumMod val="65000"/>
                  <a:lumOff val="35000"/>
                </a:schemeClr>
              </a:solidFill>
              <a:ln w="9525">
                <a:solidFill>
                  <a:schemeClr val="tx1">
                    <a:lumMod val="65000"/>
                    <a:lumOff val="35000"/>
                  </a:schemeClr>
                </a:solidFill>
              </a:ln>
              <a:effectLst/>
            </c:spPr>
          </c:downBars>
        </c:upDownBars>
        <c:marker val="1"/>
        <c:smooth val="0"/>
        <c:axId val="1145998976"/>
        <c:axId val="1145999456"/>
      </c:lineChart>
      <c:catAx>
        <c:axId val="1145998976"/>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999456"/>
        <c:crosses val="autoZero"/>
        <c:auto val="1"/>
        <c:lblAlgn val="ctr"/>
        <c:lblOffset val="100"/>
        <c:noMultiLvlLbl val="0"/>
      </c:catAx>
      <c:valAx>
        <c:axId val="1145999456"/>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998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outerShdw blurRad="50800" dist="38100" dir="2700000" algn="tl" rotWithShape="0">
        <a:prstClr val="black">
          <a:alpha val="40000"/>
        </a:prstClr>
      </a:outerShdw>
      <a:softEdge rad="12700"/>
    </a:effectLst>
    <a:scene3d>
      <a:camera prst="orthographicFront"/>
      <a:lightRig rig="balanced" dir="t"/>
    </a:scene3d>
    <a:sp3d>
      <a:bevelT/>
      <a:bevelB/>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[NextHikes IT Solutions Bike Sharing Demand Analysis Project Using.xlsx]Analysis with Pivot Tables!PivotTable13</c:name>
    <c:fmtId val="8"/>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600" b="1" i="0" u="none" strike="noStrike" baseline="0"/>
              <a:t>Weather vs demand</a:t>
            </a:r>
            <a:endParaRPr lang="en-US"/>
          </a:p>
        </c:rich>
      </c:tx>
      <c:layout>
        <c:manualLayout>
          <c:xMode val="edge"/>
          <c:yMode val="edge"/>
          <c:x val="0.34031233595800525"/>
          <c:y val="2.2127442403032958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'Analysis with Pivot Tables'!$E$2</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 with Pivot Tables'!$D$3:$D$7</c:f>
              <c:strCache>
                <c:ptCount val="4"/>
                <c:pt idx="0">
                  <c:v>Clear</c:v>
                </c:pt>
                <c:pt idx="1">
                  <c:v>Cloudy</c:v>
                </c:pt>
                <c:pt idx="2">
                  <c:v>Rain</c:v>
                </c:pt>
                <c:pt idx="3">
                  <c:v>Severe</c:v>
                </c:pt>
              </c:strCache>
            </c:strRef>
          </c:cat>
          <c:val>
            <c:numRef>
              <c:f>'Analysis with Pivot Tables'!$E$3:$E$7</c:f>
              <c:numCache>
                <c:formatCode>0</c:formatCode>
                <c:ptCount val="4"/>
                <c:pt idx="0">
                  <c:v>56.711409395973156</c:v>
                </c:pt>
                <c:pt idx="1">
                  <c:v>66.00787401574803</c:v>
                </c:pt>
                <c:pt idx="2">
                  <c:v>61.44274809160305</c:v>
                </c:pt>
                <c:pt idx="3">
                  <c:v>56.360876897133224</c:v>
                </c:pt>
              </c:numCache>
            </c:numRef>
          </c:val>
          <c:extLst>
            <c:ext xmlns:c16="http://schemas.microsoft.com/office/drawing/2014/chart" uri="{C3380CC4-5D6E-409C-BE32-E72D297353CC}">
              <c16:uniqueId val="{00000000-DD87-4907-90EA-9471AF6BA908}"/>
            </c:ext>
          </c:extLst>
        </c:ser>
        <c:dLbls>
          <c:dLblPos val="outEnd"/>
          <c:showLegendKey val="0"/>
          <c:showVal val="1"/>
          <c:showCatName val="0"/>
          <c:showSerName val="0"/>
          <c:showPercent val="0"/>
          <c:showBubbleSize val="0"/>
        </c:dLbls>
        <c:gapWidth val="115"/>
        <c:overlap val="-20"/>
        <c:axId val="1206419904"/>
        <c:axId val="1206415584"/>
      </c:barChart>
      <c:catAx>
        <c:axId val="1206419904"/>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06415584"/>
        <c:crosses val="autoZero"/>
        <c:auto val="1"/>
        <c:lblAlgn val="ctr"/>
        <c:lblOffset val="100"/>
        <c:noMultiLvlLbl val="0"/>
      </c:catAx>
      <c:valAx>
        <c:axId val="1206415584"/>
        <c:scaling>
          <c:orientation val="minMax"/>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64199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outerShdw blurRad="50800" dist="38100" dir="2700000" algn="tl" rotWithShape="0">
        <a:prstClr val="black">
          <a:alpha val="40000"/>
        </a:prstClr>
      </a:outerShdw>
      <a:softEdge rad="12700"/>
    </a:effectLst>
    <a:scene3d>
      <a:camera prst="orthographicFront"/>
      <a:lightRig rig="balanced" dir="t"/>
    </a:scene3d>
    <a:sp3d>
      <a:bevelT/>
      <a:bevelB/>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[NextHikes IT Solutions Bike Sharing Demand Analysis Project Using.xlsx]Analysis with Pivot Tables!PivotTable15</c:name>
    <c:fmtId val="8"/>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b="1"/>
              <a:t>Casual vs Registered users</a:t>
            </a:r>
          </a:p>
        </c:rich>
      </c:tx>
      <c:layout>
        <c:manualLayout>
          <c:xMode val="edge"/>
          <c:yMode val="edge"/>
          <c:x val="0.2764790026246719"/>
          <c:y val="2.2127442403032958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'Analysis with Pivot Tables'!$E$16</c:f>
              <c:strCache>
                <c:ptCount val="1"/>
                <c:pt idx="0">
                  <c:v>Total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1-8EE1-4927-B88A-89905F09F5A0}"/>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3-8EE1-4927-B88A-89905F09F5A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'Analysis with Pivot Tables'!$D$17:$D$18</c:f>
              <c:strCache>
                <c:ptCount val="2"/>
                <c:pt idx="0">
                  <c:v> Casual</c:v>
                </c:pt>
                <c:pt idx="1">
                  <c:v> Registered</c:v>
                </c:pt>
              </c:strCache>
            </c:strRef>
          </c:cat>
          <c:val>
            <c:numRef>
              <c:f>'Analysis with Pivot Tables'!$E$17:$E$18</c:f>
              <c:numCache>
                <c:formatCode>0</c:formatCode>
                <c:ptCount val="2"/>
                <c:pt idx="0">
                  <c:v>4921</c:v>
                </c:pt>
                <c:pt idx="1">
                  <c:v>53383</c:v>
                </c:pt>
              </c:numCache>
            </c:numRef>
          </c:val>
          <c:extLst>
            <c:ext xmlns:c16="http://schemas.microsoft.com/office/drawing/2014/chart" uri="{C3380CC4-5D6E-409C-BE32-E72D297353CC}">
              <c16:uniqueId val="{00000004-8EE1-4927-B88A-89905F09F5A0}"/>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outerShdw blurRad="50800" dist="38100" dir="2700000" algn="tl" rotWithShape="0">
        <a:prstClr val="black">
          <a:alpha val="40000"/>
        </a:prstClr>
      </a:outerShdw>
      <a:softEdge rad="12700"/>
    </a:effectLst>
    <a:scene3d>
      <a:camera prst="orthographicFront"/>
      <a:lightRig rig="threePt" dir="t"/>
    </a:scene3d>
    <a:sp3d>
      <a:bevelT/>
      <a:bevelB/>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600" b="1" i="0" u="none" strike="noStrike" baseline="0"/>
              <a:t>Future demand forecast</a:t>
            </a:r>
            <a:endParaRPr lang="en-US"/>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'Forecast Sheet'!$B$1</c:f>
              <c:strCache>
                <c:ptCount val="1"/>
                <c:pt idx="0">
                  <c:v> Values </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val>
            <c:numRef>
              <c:f>'Forecast Sheet'!$B$2:$B$58</c:f>
              <c:numCache>
                <c:formatCode>_(* #,##0.0_);_(* \(#,##0.0\);_(* "-"??_);_(@_)</c:formatCode>
                <c:ptCount val="57"/>
                <c:pt idx="0">
                  <c:v>41.041666666666664</c:v>
                </c:pt>
                <c:pt idx="1">
                  <c:v>34.826086956521742</c:v>
                </c:pt>
                <c:pt idx="2">
                  <c:v>61.31818181818182</c:v>
                </c:pt>
                <c:pt idx="3">
                  <c:v>67.913043478260875</c:v>
                </c:pt>
                <c:pt idx="4">
                  <c:v>69.565217391304344</c:v>
                </c:pt>
                <c:pt idx="5">
                  <c:v>69.826086956521735</c:v>
                </c:pt>
                <c:pt idx="6">
                  <c:v>65.652173913043484</c:v>
                </c:pt>
                <c:pt idx="7">
                  <c:v>39.958333333333336</c:v>
                </c:pt>
                <c:pt idx="8">
                  <c:v>34.25</c:v>
                </c:pt>
                <c:pt idx="9">
                  <c:v>55.041666666666664</c:v>
                </c:pt>
                <c:pt idx="10">
                  <c:v>57.409090909090907</c:v>
                </c:pt>
                <c:pt idx="11">
                  <c:v>52.81818181818182</c:v>
                </c:pt>
                <c:pt idx="12">
                  <c:v>58.583333333333336</c:v>
                </c:pt>
                <c:pt idx="13">
                  <c:v>61.782608695652172</c:v>
                </c:pt>
                <c:pt idx="14">
                  <c:v>52</c:v>
                </c:pt>
                <c:pt idx="15">
                  <c:v>50.166666666666664</c:v>
                </c:pt>
                <c:pt idx="16">
                  <c:v>41.666666666666664</c:v>
                </c:pt>
                <c:pt idx="17">
                  <c:v>56.916666666666664</c:v>
                </c:pt>
                <c:pt idx="18">
                  <c:v>71.739130434782609</c:v>
                </c:pt>
                <c:pt idx="19">
                  <c:v>80.291666666666671</c:v>
                </c:pt>
                <c:pt idx="20">
                  <c:v>64.291666666666671</c:v>
                </c:pt>
                <c:pt idx="21">
                  <c:v>42.652173913043477</c:v>
                </c:pt>
                <c:pt idx="22">
                  <c:v>42.869565217391305</c:v>
                </c:pt>
                <c:pt idx="23">
                  <c:v>61.565217391304351</c:v>
                </c:pt>
                <c:pt idx="24">
                  <c:v>86.304347826086953</c:v>
                </c:pt>
                <c:pt idx="25">
                  <c:v>31.625</c:v>
                </c:pt>
                <c:pt idx="26">
                  <c:v>53.875</c:v>
                </c:pt>
                <c:pt idx="27">
                  <c:v>50.739130434782609</c:v>
                </c:pt>
                <c:pt idx="28">
                  <c:v>47.739130434782609</c:v>
                </c:pt>
                <c:pt idx="29">
                  <c:v>47.652173913043477</c:v>
                </c:pt>
                <c:pt idx="30">
                  <c:v>62.541666666666664</c:v>
                </c:pt>
                <c:pt idx="31">
                  <c:v>59.130434782608695</c:v>
                </c:pt>
                <c:pt idx="32">
                  <c:v>63.583333333333336</c:v>
                </c:pt>
                <c:pt idx="33">
                  <c:v>67.391304347826093</c:v>
                </c:pt>
                <c:pt idx="34">
                  <c:v>74.260869565217391</c:v>
                </c:pt>
                <c:pt idx="35">
                  <c:v>41.875</c:v>
                </c:pt>
                <c:pt idx="36">
                  <c:v>67.625</c:v>
                </c:pt>
                <c:pt idx="37">
                  <c:v>71.333333333333329</c:v>
                </c:pt>
                <c:pt idx="38">
                  <c:v>63.75</c:v>
                </c:pt>
                <c:pt idx="39">
                  <c:v>69.782608695652172</c:v>
                </c:pt>
                <c:pt idx="40">
                  <c:v>66.869565217391298</c:v>
                </c:pt>
                <c:pt idx="41">
                  <c:v>79.36363636363636</c:v>
                </c:pt>
                <c:pt idx="42">
                  <c:v>61.333333333333336</c:v>
                </c:pt>
                <c:pt idx="43">
                  <c:v>69.086956521739125</c:v>
                </c:pt>
                <c:pt idx="44">
                  <c:v>18.875</c:v>
                </c:pt>
              </c:numCache>
            </c:numRef>
          </c:val>
          <c:smooth val="0"/>
          <c:extLst>
            <c:ext xmlns:c16="http://schemas.microsoft.com/office/drawing/2014/chart" uri="{C3380CC4-5D6E-409C-BE32-E72D297353CC}">
              <c16:uniqueId val="{00000000-AA67-42F6-A833-52A2DEC973BD}"/>
            </c:ext>
          </c:extLst>
        </c:ser>
        <c:ser>
          <c:idx val="1"/>
          <c:order val="1"/>
          <c:tx>
            <c:strRef>
              <c:f>'Forecast Sheet'!$C$1</c:f>
              <c:strCache>
                <c:ptCount val="1"/>
                <c:pt idx="0">
                  <c:v>Forecast</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numRef>
              <c:f>'Forecast Sheet'!$A$2:$A$58</c:f>
              <c:numCache>
                <c:formatCode>dd\-mm\-yyyy</c:formatCode>
                <c:ptCount val="57"/>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numCache>
            </c:numRef>
          </c:cat>
          <c:val>
            <c:numRef>
              <c:f>'Forecast Sheet'!$C$2:$C$58</c:f>
              <c:numCache>
                <c:formatCode>General</c:formatCode>
                <c:ptCount val="57"/>
                <c:pt idx="44" formatCode="_(* #,##0.0_);_(* \(#,##0.0\);_(* &quot;-&quot;??_);_(@_)">
                  <c:v>18.875</c:v>
                </c:pt>
                <c:pt idx="45" formatCode="_(* #,##0.0_);_(* \(#,##0.0\);_(* &quot;-&quot;??_);_(@_)">
                  <c:v>61.270134143024279</c:v>
                </c:pt>
                <c:pt idx="46" formatCode="_(* #,##0.0_);_(* \(#,##0.0\);_(* &quot;-&quot;??_);_(@_)">
                  <c:v>61.525827765725516</c:v>
                </c:pt>
                <c:pt idx="47" formatCode="_(* #,##0.0_);_(* \(#,##0.0\);_(* &quot;-&quot;??_);_(@_)">
                  <c:v>61.781521388426746</c:v>
                </c:pt>
                <c:pt idx="48" formatCode="_(* #,##0.0_);_(* \(#,##0.0\);_(* &quot;-&quot;??_);_(@_)">
                  <c:v>62.037215011127984</c:v>
                </c:pt>
                <c:pt idx="49" formatCode="_(* #,##0.0_);_(* \(#,##0.0\);_(* &quot;-&quot;??_);_(@_)">
                  <c:v>62.292908633829221</c:v>
                </c:pt>
                <c:pt idx="50" formatCode="_(* #,##0.0_);_(* \(#,##0.0\);_(* &quot;-&quot;??_);_(@_)">
                  <c:v>62.548602256530458</c:v>
                </c:pt>
                <c:pt idx="51" formatCode="_(* #,##0.0_);_(* \(#,##0.0\);_(* &quot;-&quot;??_);_(@_)">
                  <c:v>62.804295879231688</c:v>
                </c:pt>
                <c:pt idx="52" formatCode="_(* #,##0.0_);_(* \(#,##0.0\);_(* &quot;-&quot;??_);_(@_)">
                  <c:v>63.059989501932925</c:v>
                </c:pt>
                <c:pt idx="53" formatCode="_(* #,##0.0_);_(* \(#,##0.0\);_(* &quot;-&quot;??_);_(@_)">
                  <c:v>63.315683124634162</c:v>
                </c:pt>
                <c:pt idx="54" formatCode="_(* #,##0.0_);_(* \(#,##0.0\);_(* &quot;-&quot;??_);_(@_)">
                  <c:v>63.5713767473354</c:v>
                </c:pt>
                <c:pt idx="55" formatCode="_(* #,##0.0_);_(* \(#,##0.0\);_(* &quot;-&quot;??_);_(@_)">
                  <c:v>63.827070370036637</c:v>
                </c:pt>
                <c:pt idx="56" formatCode="_(* #,##0.0_);_(* \(#,##0.0\);_(* &quot;-&quot;??_);_(@_)">
                  <c:v>64.082763992737867</c:v>
                </c:pt>
              </c:numCache>
            </c:numRef>
          </c:val>
          <c:smooth val="0"/>
          <c:extLst>
            <c:ext xmlns:c16="http://schemas.microsoft.com/office/drawing/2014/chart" uri="{C3380CC4-5D6E-409C-BE32-E72D297353CC}">
              <c16:uniqueId val="{00000001-AA67-42F6-A833-52A2DEC973BD}"/>
            </c:ext>
          </c:extLst>
        </c:ser>
        <c:ser>
          <c:idx val="2"/>
          <c:order val="2"/>
          <c:tx>
            <c:strRef>
              <c:f>'Forecast Sheet'!$D$1</c:f>
              <c:strCache>
                <c:ptCount val="1"/>
                <c:pt idx="0">
                  <c:v>Lower Confidence Bound</c:v>
                </c:pt>
              </c:strCache>
            </c:strRef>
          </c:tx>
          <c:spPr>
            <a:ln w="34925" cap="rnd">
              <a:solidFill>
                <a:schemeClr val="accent3"/>
              </a:solidFill>
              <a:round/>
            </a:ln>
            <a:effectLst>
              <a:outerShdw blurRad="57150" dist="19050" dir="5400000" algn="ctr" rotWithShape="0">
                <a:srgbClr val="000000">
                  <a:alpha val="63000"/>
                </a:srgbClr>
              </a:outerShdw>
            </a:effectLst>
          </c:spPr>
          <c:marker>
            <c:symbol val="none"/>
          </c:marker>
          <c:cat>
            <c:numRef>
              <c:f>'Forecast Sheet'!$A$2:$A$58</c:f>
              <c:numCache>
                <c:formatCode>dd\-mm\-yyyy</c:formatCode>
                <c:ptCount val="57"/>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numCache>
            </c:numRef>
          </c:cat>
          <c:val>
            <c:numRef>
              <c:f>'Forecast Sheet'!$D$2:$D$58</c:f>
              <c:numCache>
                <c:formatCode>General</c:formatCode>
                <c:ptCount val="57"/>
                <c:pt idx="44" formatCode="_(* #,##0.0_);_(* \(#,##0.0\);_(* &quot;-&quot;??_);_(@_)">
                  <c:v>18.875</c:v>
                </c:pt>
                <c:pt idx="45" formatCode="_(* #,##0.0_);_(* \(#,##0.0\);_(* &quot;-&quot;??_);_(@_)">
                  <c:v>31.858655883675784</c:v>
                </c:pt>
                <c:pt idx="46" formatCode="_(* #,##0.0_);_(* \(#,##0.0\);_(* &quot;-&quot;??_);_(@_)">
                  <c:v>31.878109408718345</c:v>
                </c:pt>
                <c:pt idx="47" formatCode="_(* #,##0.0_);_(* \(#,##0.0\);_(* &quot;-&quot;??_);_(@_)">
                  <c:v>31.895739851191895</c:v>
                </c:pt>
                <c:pt idx="48" formatCode="_(* #,##0.0_);_(* \(#,##0.0\);_(* &quot;-&quot;??_);_(@_)">
                  <c:v>31.911561716718598</c:v>
                </c:pt>
                <c:pt idx="49" formatCode="_(* #,##0.0_);_(* \(#,##0.0\);_(* &quot;-&quot;??_);_(@_)">
                  <c:v>31.925589377473688</c:v>
                </c:pt>
                <c:pt idx="50" formatCode="_(* #,##0.0_);_(* \(#,##0.0\);_(* &quot;-&quot;??_);_(@_)">
                  <c:v>31.937837068955986</c:v>
                </c:pt>
                <c:pt idx="51" formatCode="_(* #,##0.0_);_(* \(#,##0.0\);_(* &quot;-&quot;??_);_(@_)">
                  <c:v>31.948318887095059</c:v>
                </c:pt>
                <c:pt idx="52" formatCode="_(* #,##0.0_);_(* \(#,##0.0\);_(* &quot;-&quot;??_);_(@_)">
                  <c:v>31.95704878567814</c:v>
                </c:pt>
                <c:pt idx="53" formatCode="_(* #,##0.0_);_(* \(#,##0.0\);_(* &quot;-&quot;??_);_(@_)">
                  <c:v>31.964040574080091</c:v>
                </c:pt>
                <c:pt idx="54" formatCode="_(* #,##0.0_);_(* \(#,##0.0\);_(* &quot;-&quot;??_);_(@_)">
                  <c:v>31.969307915280588</c:v>
                </c:pt>
                <c:pt idx="55" formatCode="_(* #,##0.0_);_(* \(#,##0.0\);_(* &quot;-&quot;??_);_(@_)">
                  <c:v>31.972864324152855</c:v>
                </c:pt>
                <c:pt idx="56" formatCode="_(* #,##0.0_);_(* \(#,##0.0\);_(* &quot;-&quot;??_);_(@_)">
                  <c:v>31.974723166009028</c:v>
                </c:pt>
              </c:numCache>
            </c:numRef>
          </c:val>
          <c:smooth val="0"/>
          <c:extLst>
            <c:ext xmlns:c16="http://schemas.microsoft.com/office/drawing/2014/chart" uri="{C3380CC4-5D6E-409C-BE32-E72D297353CC}">
              <c16:uniqueId val="{00000002-AA67-42F6-A833-52A2DEC973BD}"/>
            </c:ext>
          </c:extLst>
        </c:ser>
        <c:ser>
          <c:idx val="3"/>
          <c:order val="3"/>
          <c:tx>
            <c:strRef>
              <c:f>'Forecast Sheet'!$E$1</c:f>
              <c:strCache>
                <c:ptCount val="1"/>
                <c:pt idx="0">
                  <c:v>Upper Confidence Bound</c:v>
                </c:pt>
              </c:strCache>
            </c:strRef>
          </c:tx>
          <c:spPr>
            <a:ln w="34925" cap="rnd">
              <a:solidFill>
                <a:schemeClr val="accent4"/>
              </a:solidFill>
              <a:round/>
            </a:ln>
            <a:effectLst>
              <a:outerShdw blurRad="57150" dist="19050" dir="5400000" algn="ctr" rotWithShape="0">
                <a:srgbClr val="000000">
                  <a:alpha val="63000"/>
                </a:srgbClr>
              </a:outerShdw>
            </a:effectLst>
          </c:spPr>
          <c:marker>
            <c:symbol val="none"/>
          </c:marker>
          <c:cat>
            <c:numRef>
              <c:f>'Forecast Sheet'!$A$2:$A$58</c:f>
              <c:numCache>
                <c:formatCode>dd\-mm\-yyyy</c:formatCode>
                <c:ptCount val="57"/>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numCache>
            </c:numRef>
          </c:cat>
          <c:val>
            <c:numRef>
              <c:f>'Forecast Sheet'!$E$2:$E$58</c:f>
              <c:numCache>
                <c:formatCode>General</c:formatCode>
                <c:ptCount val="57"/>
                <c:pt idx="44" formatCode="_(* #,##0.0_);_(* \(#,##0.0\);_(* &quot;-&quot;??_);_(@_)">
                  <c:v>18.875</c:v>
                </c:pt>
                <c:pt idx="45" formatCode="_(* #,##0.0_);_(* \(#,##0.0\);_(* &quot;-&quot;??_);_(@_)">
                  <c:v>90.681612402372778</c:v>
                </c:pt>
                <c:pt idx="46" formatCode="_(* #,##0.0_);_(* \(#,##0.0\);_(* &quot;-&quot;??_);_(@_)">
                  <c:v>91.173546122732688</c:v>
                </c:pt>
                <c:pt idx="47" formatCode="_(* #,##0.0_);_(* \(#,##0.0\);_(* &quot;-&quot;??_);_(@_)">
                  <c:v>91.667302925661602</c:v>
                </c:pt>
                <c:pt idx="48" formatCode="_(* #,##0.0_);_(* \(#,##0.0\);_(* &quot;-&quot;??_);_(@_)">
                  <c:v>92.162868305537373</c:v>
                </c:pt>
                <c:pt idx="49" formatCode="_(* #,##0.0_);_(* \(#,##0.0\);_(* &quot;-&quot;??_);_(@_)">
                  <c:v>92.660227890184757</c:v>
                </c:pt>
                <c:pt idx="50" formatCode="_(* #,##0.0_);_(* \(#,##0.0\);_(* &quot;-&quot;??_);_(@_)">
                  <c:v>93.15936744410493</c:v>
                </c:pt>
                <c:pt idx="51" formatCode="_(* #,##0.0_);_(* \(#,##0.0\);_(* &quot;-&quot;??_);_(@_)">
                  <c:v>93.660272871368321</c:v>
                </c:pt>
                <c:pt idx="52" formatCode="_(* #,##0.0_);_(* \(#,##0.0\);_(* &quot;-&quot;??_);_(@_)">
                  <c:v>94.162930218187711</c:v>
                </c:pt>
                <c:pt idx="53" formatCode="_(* #,##0.0_);_(* \(#,##0.0\);_(* &quot;-&quot;??_);_(@_)">
                  <c:v>94.667325675188238</c:v>
                </c:pt>
                <c:pt idx="54" formatCode="_(* #,##0.0_);_(* \(#,##0.0\);_(* &quot;-&quot;??_);_(@_)">
                  <c:v>95.173445579390204</c:v>
                </c:pt>
                <c:pt idx="55" formatCode="_(* #,##0.0_);_(* \(#,##0.0\);_(* &quot;-&quot;??_);_(@_)">
                  <c:v>95.681276415920422</c:v>
                </c:pt>
                <c:pt idx="56" formatCode="_(* #,##0.0_);_(* \(#,##0.0\);_(* &quot;-&quot;??_);_(@_)">
                  <c:v>96.190804819466706</c:v>
                </c:pt>
              </c:numCache>
            </c:numRef>
          </c:val>
          <c:smooth val="0"/>
          <c:extLst>
            <c:ext xmlns:c16="http://schemas.microsoft.com/office/drawing/2014/chart" uri="{C3380CC4-5D6E-409C-BE32-E72D297353CC}">
              <c16:uniqueId val="{00000003-AA67-42F6-A833-52A2DEC973BD}"/>
            </c:ext>
          </c:extLst>
        </c:ser>
        <c:dLbls>
          <c:showLegendKey val="0"/>
          <c:showVal val="0"/>
          <c:showCatName val="0"/>
          <c:showSerName val="0"/>
          <c:showPercent val="0"/>
          <c:showBubbleSize val="0"/>
        </c:dLbls>
        <c:upDownBars>
          <c:gapWidth val="150"/>
          <c:upBars>
            <c:spPr>
              <a:solidFill>
                <a:schemeClr val="lt1"/>
              </a:solidFill>
              <a:ln w="9525">
                <a:solidFill>
                  <a:schemeClr val="tx1">
                    <a:lumMod val="15000"/>
                    <a:lumOff val="85000"/>
                  </a:schemeClr>
                </a:solidFill>
              </a:ln>
              <a:effectLst/>
            </c:spPr>
          </c:upBars>
          <c:downBars>
            <c:spPr>
              <a:solidFill>
                <a:schemeClr val="dk1">
                  <a:lumMod val="65000"/>
                  <a:lumOff val="35000"/>
                </a:schemeClr>
              </a:solidFill>
              <a:ln w="9525">
                <a:solidFill>
                  <a:schemeClr val="tx1">
                    <a:lumMod val="65000"/>
                    <a:lumOff val="35000"/>
                  </a:schemeClr>
                </a:solidFill>
              </a:ln>
              <a:effectLst/>
            </c:spPr>
          </c:downBars>
        </c:upDownBars>
        <c:smooth val="0"/>
        <c:axId val="1206392064"/>
        <c:axId val="1206383904"/>
      </c:lineChart>
      <c:catAx>
        <c:axId val="1206392064"/>
        <c:scaling>
          <c:orientation val="minMax"/>
        </c:scaling>
        <c:delete val="0"/>
        <c:axPos val="b"/>
        <c:majorTickMark val="none"/>
        <c:minorTickMark val="none"/>
        <c:tickLblPos val="low"/>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6383904"/>
        <c:crosses val="autoZero"/>
        <c:auto val="1"/>
        <c:lblAlgn val="ctr"/>
        <c:lblOffset val="100"/>
        <c:noMultiLvlLbl val="0"/>
      </c:catAx>
      <c:valAx>
        <c:axId val="1206383904"/>
        <c:scaling>
          <c:orientation val="minMax"/>
        </c:scaling>
        <c:delete val="0"/>
        <c:axPos val="l"/>
        <c:numFmt formatCode="_(* #,##0.0_);_(* \(#,##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6392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softEdge rad="12700"/>
    </a:effectLst>
    <a:scene3d>
      <a:camera prst="orthographicFront"/>
      <a:lightRig rig="balanced" dir="t"/>
    </a:scene3d>
    <a:sp3d>
      <a:bevelT/>
      <a:bevelB/>
    </a:sp3d>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94E2-D733-1609-537E-790738E10B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BF2669-A781-1F92-D126-9FD5E9C0ED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921817-27B2-02DE-1A89-B31C714021F2}"/>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5" name="Footer Placeholder 4">
            <a:extLst>
              <a:ext uri="{FF2B5EF4-FFF2-40B4-BE49-F238E27FC236}">
                <a16:creationId xmlns:a16="http://schemas.microsoft.com/office/drawing/2014/main" id="{9C5E94DB-4D75-65CC-9417-55690EE8B4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2336B6-A8B4-BA1D-175B-79A79AD16584}"/>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1601061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AAE9-E58D-AD81-8769-F71CD8CAB4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45EBF5-C145-D215-9207-4019AD76AF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F77FF6-9EB7-635F-C48C-80CDC65E2F8D}"/>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5" name="Footer Placeholder 4">
            <a:extLst>
              <a:ext uri="{FF2B5EF4-FFF2-40B4-BE49-F238E27FC236}">
                <a16:creationId xmlns:a16="http://schemas.microsoft.com/office/drawing/2014/main" id="{3E6ED616-6BAE-2F4E-3E4B-BAEF8771E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F73E9-1E3E-5421-BD7C-227CF09141EE}"/>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986159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9B4CA-A68C-0947-820E-04D181D7E0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46C1CC-5101-69CA-A555-AF0B4EC004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5E87BE-18A8-8607-3AD0-1A1D89EBABAA}"/>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5" name="Footer Placeholder 4">
            <a:extLst>
              <a:ext uri="{FF2B5EF4-FFF2-40B4-BE49-F238E27FC236}">
                <a16:creationId xmlns:a16="http://schemas.microsoft.com/office/drawing/2014/main" id="{FABF7943-59D6-1983-0780-AFE6E13C1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13321-A257-A820-A75B-1024605D1076}"/>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456164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E9B0C-7717-3B80-6434-E4F0A351F2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4C1B91-6587-D1FA-F223-BA11FD9C62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CA685C-649F-850F-062E-2541732120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72A5D2-0645-295B-BADE-E67BFF895294}"/>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6" name="Footer Placeholder 5">
            <a:extLst>
              <a:ext uri="{FF2B5EF4-FFF2-40B4-BE49-F238E27FC236}">
                <a16:creationId xmlns:a16="http://schemas.microsoft.com/office/drawing/2014/main" id="{E2F44823-580A-137C-6FDC-6FB904044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519561-AC2A-349E-D2C8-78079AFCD6A2}"/>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3477724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FFFC-1A54-7A46-BD86-ECF362D289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1709B-D8A9-DED5-BC4F-D6501EF08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FF2682-0A26-A511-2248-D88BE7C77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525CEF-1EDA-6F70-D65E-7614DFCD56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DEDF5-5702-A1E5-AED6-EA2623D607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831B60-C430-F25A-95FE-DC902C05C7BD}"/>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8" name="Footer Placeholder 7">
            <a:extLst>
              <a:ext uri="{FF2B5EF4-FFF2-40B4-BE49-F238E27FC236}">
                <a16:creationId xmlns:a16="http://schemas.microsoft.com/office/drawing/2014/main" id="{C9C643A5-1B2A-D676-39FC-5298EBEB50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967C6B-18A3-73BF-6852-8448E4F5C98C}"/>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4205153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44E18-BD5D-DFAD-2FBE-3C21E1A597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83CA11-92EF-AFD4-58FC-235802DA11AA}"/>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4" name="Footer Placeholder 3">
            <a:extLst>
              <a:ext uri="{FF2B5EF4-FFF2-40B4-BE49-F238E27FC236}">
                <a16:creationId xmlns:a16="http://schemas.microsoft.com/office/drawing/2014/main" id="{5B6D3F5D-E5E2-F991-AFD7-989622A9E6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2D92D6-6193-D2BB-344D-73FD57FAFADC}"/>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363123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214DA8-3DA0-2CB3-0265-4812EA35EDE2}"/>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3" name="Footer Placeholder 2">
            <a:extLst>
              <a:ext uri="{FF2B5EF4-FFF2-40B4-BE49-F238E27FC236}">
                <a16:creationId xmlns:a16="http://schemas.microsoft.com/office/drawing/2014/main" id="{38B9629E-021F-506E-E08A-0A28236F9F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C56069-D295-3091-60B5-1F6CE23C3F44}"/>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1814144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04D88-4318-0EB8-F9A7-34E41B0571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37EE5E-824C-B7C8-D85F-F8FB99FF04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007576-F27B-0634-A496-1F159C2BCD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A0B24D-B0F3-7C6A-3A12-5984EC19D9A4}"/>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6" name="Footer Placeholder 5">
            <a:extLst>
              <a:ext uri="{FF2B5EF4-FFF2-40B4-BE49-F238E27FC236}">
                <a16:creationId xmlns:a16="http://schemas.microsoft.com/office/drawing/2014/main" id="{01736DDA-5F96-FAE2-A0B9-2FCE1F8A40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A3403-566C-57E3-F58C-602A1B335BBC}"/>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1364404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7424C-736C-704B-EA15-305A22B36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2FF9F6-9BBE-B5A9-7722-0ED041B565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99F7C3-66B9-A207-A9D4-E3F3531E0D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97358-69D8-1098-608D-8EAD295A1292}"/>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6" name="Footer Placeholder 5">
            <a:extLst>
              <a:ext uri="{FF2B5EF4-FFF2-40B4-BE49-F238E27FC236}">
                <a16:creationId xmlns:a16="http://schemas.microsoft.com/office/drawing/2014/main" id="{3B71EDE7-B195-5671-EAC6-DAA3A62018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FD90AF-8CB0-3EAE-7952-74758AB88DFA}"/>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2969579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7B16B-1A7D-0DC2-E453-DD0023A008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5781D9-5576-F6CA-B444-17B2F8848F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72448-4162-831E-F48F-A35F5208AF91}"/>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5" name="Footer Placeholder 4">
            <a:extLst>
              <a:ext uri="{FF2B5EF4-FFF2-40B4-BE49-F238E27FC236}">
                <a16:creationId xmlns:a16="http://schemas.microsoft.com/office/drawing/2014/main" id="{AFBAAFF1-1D2F-7D7F-F4D0-AFC5D5B99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4D370-76FA-0610-E698-8BEFE3002745}"/>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3235578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C8628A-621C-EF40-AF7D-6B27831096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C2C1F8-16F9-3009-47B1-CAAC2C962E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D7BA9F-E17E-6B39-F25F-53025202951C}"/>
              </a:ext>
            </a:extLst>
          </p:cNvPr>
          <p:cNvSpPr>
            <a:spLocks noGrp="1"/>
          </p:cNvSpPr>
          <p:nvPr>
            <p:ph type="dt" sz="half" idx="10"/>
          </p:nvPr>
        </p:nvSpPr>
        <p:spPr/>
        <p:txBody>
          <a:bodyPr/>
          <a:lstStyle/>
          <a:p>
            <a:fld id="{3218FF26-DD3E-4719-907D-9510042D2FD5}" type="datetimeFigureOut">
              <a:rPr lang="en-US" smtClean="0"/>
              <a:t>26-Dec-25</a:t>
            </a:fld>
            <a:endParaRPr lang="en-US"/>
          </a:p>
        </p:txBody>
      </p:sp>
      <p:sp>
        <p:nvSpPr>
          <p:cNvPr id="5" name="Footer Placeholder 4">
            <a:extLst>
              <a:ext uri="{FF2B5EF4-FFF2-40B4-BE49-F238E27FC236}">
                <a16:creationId xmlns:a16="http://schemas.microsoft.com/office/drawing/2014/main" id="{E0DA22E7-1290-3CE6-7929-C4368F9B10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E1080E-5F5F-F541-B15F-99598816EED8}"/>
              </a:ext>
            </a:extLst>
          </p:cNvPr>
          <p:cNvSpPr>
            <a:spLocks noGrp="1"/>
          </p:cNvSpPr>
          <p:nvPr>
            <p:ph type="sldNum" sz="quarter" idx="12"/>
          </p:nvPr>
        </p:nvSpPr>
        <p:spPr/>
        <p:txBody>
          <a:bodyPr/>
          <a:lstStyle/>
          <a:p>
            <a:fld id="{CC9651BF-1208-4234-9F65-DE8A8F832D54}" type="slidenum">
              <a:rPr lang="en-US" smtClean="0"/>
              <a:t>‹#›</a:t>
            </a:fld>
            <a:endParaRPr lang="en-US"/>
          </a:p>
        </p:txBody>
      </p:sp>
    </p:spTree>
    <p:extLst>
      <p:ext uri="{BB962C8B-B14F-4D97-AF65-F5344CB8AC3E}">
        <p14:creationId xmlns:p14="http://schemas.microsoft.com/office/powerpoint/2010/main" val="3157494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B8FFF-2F38-8BEB-1A6D-02235FDB7F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E09EE8-E5FF-38BA-1F55-CDFC98AF45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C20F41-6FE8-1740-C979-4472CACFE5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18FF26-DD3E-4719-907D-9510042D2FD5}" type="datetimeFigureOut">
              <a:rPr lang="en-US" smtClean="0"/>
              <a:t>26-Dec-25</a:t>
            </a:fld>
            <a:endParaRPr lang="en-US"/>
          </a:p>
        </p:txBody>
      </p:sp>
      <p:sp>
        <p:nvSpPr>
          <p:cNvPr id="5" name="Footer Placeholder 4">
            <a:extLst>
              <a:ext uri="{FF2B5EF4-FFF2-40B4-BE49-F238E27FC236}">
                <a16:creationId xmlns:a16="http://schemas.microsoft.com/office/drawing/2014/main" id="{A8741668-4F7F-CB37-3932-E8ABA121FE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3F08CB-CB3E-39A1-C945-10038EAD66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9651BF-1208-4234-9F65-DE8A8F832D54}" type="slidenum">
              <a:rPr lang="en-US" smtClean="0"/>
              <a:t>‹#›</a:t>
            </a:fld>
            <a:endParaRPr lang="en-US"/>
          </a:p>
        </p:txBody>
      </p:sp>
    </p:spTree>
    <p:extLst>
      <p:ext uri="{BB962C8B-B14F-4D97-AF65-F5344CB8AC3E}">
        <p14:creationId xmlns:p14="http://schemas.microsoft.com/office/powerpoint/2010/main" val="1692097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2.jfi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jfif"/></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jfif"/></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jfif"/></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jfif"/></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jfif"/></Relationships>
</file>

<file path=ppt/slides/_rels/slide10.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fif"/><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BAEF2-C315-5A7C-BE9D-431E791F8ECE}"/>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B17C85AA-9883-E700-B76A-79C0375F3E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10" name="Picture 9">
            <a:extLst>
              <a:ext uri="{FF2B5EF4-FFF2-40B4-BE49-F238E27FC236}">
                <a16:creationId xmlns:a16="http://schemas.microsoft.com/office/drawing/2014/main" id="{5208C1F4-15EA-E3B8-F37D-A77CC5E39C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
        <p:nvSpPr>
          <p:cNvPr id="18" name="Rectangle 17">
            <a:extLst>
              <a:ext uri="{FF2B5EF4-FFF2-40B4-BE49-F238E27FC236}">
                <a16:creationId xmlns:a16="http://schemas.microsoft.com/office/drawing/2014/main" id="{03A2319A-3A8C-288B-88F3-990ACE2212B9}"/>
              </a:ext>
            </a:extLst>
          </p:cNvPr>
          <p:cNvSpPr/>
          <p:nvPr/>
        </p:nvSpPr>
        <p:spPr>
          <a:xfrm rot="21082380">
            <a:off x="280647" y="3345410"/>
            <a:ext cx="5471410" cy="2300473"/>
          </a:xfrm>
          <a:prstGeom prst="rect">
            <a:avLst/>
          </a:prstGeom>
          <a:solidFill>
            <a:srgbClr val="E8547F"/>
          </a:solidFill>
          <a:ln>
            <a:solidFill>
              <a:srgbClr val="E854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EDAACB-1BA2-A17D-A35E-0D59325ED7B7}"/>
              </a:ext>
            </a:extLst>
          </p:cNvPr>
          <p:cNvSpPr txBox="1"/>
          <p:nvPr/>
        </p:nvSpPr>
        <p:spPr>
          <a:xfrm rot="21053077">
            <a:off x="509668" y="3300249"/>
            <a:ext cx="7982262" cy="369332"/>
          </a:xfrm>
          <a:prstGeom prst="rect">
            <a:avLst/>
          </a:prstGeom>
          <a:noFill/>
        </p:spPr>
        <p:txBody>
          <a:bodyPr wrap="square">
            <a:spAutoFit/>
          </a:bodyPr>
          <a:lstStyle>
            <a:defPPr>
              <a:defRPr lang="en-US"/>
            </a:defPPr>
            <a:lvl1pPr>
              <a:defRPr sz="2000" b="1">
                <a:effectLst/>
                <a:latin typeface="Century Schoolbook" panose="02040604050505020304" pitchFamily="18" charset="0"/>
                <a:ea typeface="Calibri" panose="020F0502020204030204" pitchFamily="34" charset="0"/>
                <a:cs typeface="Times New Roman" panose="02020603050405020304" pitchFamily="18" charset="0"/>
              </a:defRPr>
            </a:lvl1pPr>
          </a:lstStyle>
          <a:p>
            <a:r>
              <a:rPr lang="en-US" sz="1800" dirty="0">
                <a:solidFill>
                  <a:schemeClr val="bg1"/>
                </a:solidFill>
              </a:rPr>
              <a:t>Using Excel, Pivot Tables &amp; Forecasting</a:t>
            </a:r>
          </a:p>
        </p:txBody>
      </p:sp>
      <p:sp>
        <p:nvSpPr>
          <p:cNvPr id="3" name="TextBox 2">
            <a:extLst>
              <a:ext uri="{FF2B5EF4-FFF2-40B4-BE49-F238E27FC236}">
                <a16:creationId xmlns:a16="http://schemas.microsoft.com/office/drawing/2014/main" id="{7E7D8B09-172A-151A-04F3-2588661D70B5}"/>
              </a:ext>
            </a:extLst>
          </p:cNvPr>
          <p:cNvSpPr txBox="1"/>
          <p:nvPr/>
        </p:nvSpPr>
        <p:spPr>
          <a:xfrm rot="21044079">
            <a:off x="794473" y="2839883"/>
            <a:ext cx="8132164" cy="400110"/>
          </a:xfrm>
          <a:prstGeom prst="rect">
            <a:avLst/>
          </a:prstGeom>
          <a:noFill/>
        </p:spPr>
        <p:txBody>
          <a:bodyPr wrap="square">
            <a:spAutoFit/>
          </a:bodyPr>
          <a:lstStyle/>
          <a:p>
            <a:r>
              <a:rPr lang="en-US" sz="2000" b="1" dirty="0">
                <a:solidFill>
                  <a:schemeClr val="bg1"/>
                </a:solidFill>
                <a:effectLst/>
                <a:latin typeface="Century Schoolbook" panose="02040604050505020304" pitchFamily="18" charset="0"/>
                <a:ea typeface="Calibri" panose="020F0502020204030204" pitchFamily="34" charset="0"/>
                <a:cs typeface="Times New Roman" panose="02020603050405020304" pitchFamily="18" charset="0"/>
              </a:rPr>
              <a:t>Bike Sharing Demand Analysis</a:t>
            </a:r>
            <a:endParaRPr lang="en-US" sz="2000" b="1" dirty="0">
              <a:solidFill>
                <a:schemeClr val="bg1"/>
              </a:solidFill>
              <a:latin typeface="Century Schoolbook" panose="02040604050505020304" pitchFamily="18" charset="0"/>
            </a:endParaRPr>
          </a:p>
        </p:txBody>
      </p:sp>
      <p:sp>
        <p:nvSpPr>
          <p:cNvPr id="8" name="TextBox 7">
            <a:extLst>
              <a:ext uri="{FF2B5EF4-FFF2-40B4-BE49-F238E27FC236}">
                <a16:creationId xmlns:a16="http://schemas.microsoft.com/office/drawing/2014/main" id="{3ECE1B96-B517-1A02-38E7-1970C4369AAF}"/>
              </a:ext>
            </a:extLst>
          </p:cNvPr>
          <p:cNvSpPr txBox="1"/>
          <p:nvPr/>
        </p:nvSpPr>
        <p:spPr>
          <a:xfrm rot="21047023">
            <a:off x="702002" y="3812227"/>
            <a:ext cx="7982262" cy="1530162"/>
          </a:xfrm>
          <a:prstGeom prst="rect">
            <a:avLst/>
          </a:prstGeom>
          <a:noFill/>
        </p:spPr>
        <p:txBody>
          <a:bodyPr wrap="square">
            <a:spAutoFit/>
          </a:bodyPr>
          <a:lstStyle/>
          <a:p>
            <a:pPr marL="0" marR="0">
              <a:lnSpc>
                <a:spcPct val="115000"/>
              </a:lnSpc>
              <a:spcAft>
                <a:spcPts val="800"/>
              </a:spcAft>
              <a:buNone/>
            </a:pPr>
            <a:r>
              <a:rPr lang="en-US" b="1" dirty="0">
                <a:solidFill>
                  <a:schemeClr val="bg1"/>
                </a:solidFill>
                <a:latin typeface="Century Schoolbook" panose="02040604050505020304" pitchFamily="18" charset="0"/>
                <a:ea typeface="Calibri" panose="020F0502020204030204" pitchFamily="34" charset="0"/>
                <a:cs typeface="Times New Roman" panose="02020603050405020304" pitchFamily="18" charset="0"/>
              </a:rPr>
              <a:t>Animesh Kumar </a:t>
            </a:r>
          </a:p>
          <a:p>
            <a:pPr>
              <a:lnSpc>
                <a:spcPct val="115000"/>
              </a:lnSpc>
              <a:spcAft>
                <a:spcPts val="800"/>
              </a:spcAft>
            </a:pPr>
            <a:r>
              <a:rPr lang="en-US" b="1" dirty="0">
                <a:solidFill>
                  <a:schemeClr val="bg1"/>
                </a:solidFill>
                <a:latin typeface="Century Schoolbook" panose="02040604050505020304" pitchFamily="18" charset="0"/>
                <a:ea typeface="Calibri" panose="020F0502020204030204" pitchFamily="34" charset="0"/>
                <a:cs typeface="Times New Roman" panose="02020603050405020304" pitchFamily="18" charset="0"/>
              </a:rPr>
              <a:t>Bike Sharing Demand Analysis Project </a:t>
            </a:r>
            <a:br>
              <a:rPr lang="en-US" b="1" dirty="0">
                <a:solidFill>
                  <a:schemeClr val="bg1"/>
                </a:solidFill>
                <a:latin typeface="Century Schoolbook" panose="02040604050505020304" pitchFamily="18" charset="0"/>
                <a:ea typeface="Calibri" panose="020F0502020204030204" pitchFamily="34" charset="0"/>
                <a:cs typeface="Times New Roman" panose="02020603050405020304" pitchFamily="18" charset="0"/>
              </a:rPr>
            </a:br>
            <a:r>
              <a:rPr lang="en-US" b="1" dirty="0">
                <a:solidFill>
                  <a:schemeClr val="bg1"/>
                </a:solidFill>
                <a:latin typeface="Century Schoolbook" panose="02040604050505020304" pitchFamily="18" charset="0"/>
                <a:ea typeface="Calibri" panose="020F0502020204030204" pitchFamily="34" charset="0"/>
                <a:cs typeface="Times New Roman" panose="02020603050405020304" pitchFamily="18" charset="0"/>
              </a:rPr>
              <a:t>Using Excel </a:t>
            </a:r>
          </a:p>
          <a:p>
            <a:r>
              <a:rPr lang="en-US" b="1" dirty="0">
                <a:solidFill>
                  <a:schemeClr val="bg1"/>
                </a:solidFill>
                <a:latin typeface="Century Schoolbook" panose="02040604050505020304" pitchFamily="18" charset="0"/>
                <a:ea typeface="Calibri" panose="020F0502020204030204" pitchFamily="34" charset="0"/>
                <a:cs typeface="Times New Roman" panose="02020603050405020304" pitchFamily="18" charset="0"/>
              </a:rPr>
              <a:t>Date :- 24-Dec-25</a:t>
            </a:r>
          </a:p>
        </p:txBody>
      </p:sp>
    </p:spTree>
    <p:extLst>
      <p:ext uri="{BB962C8B-B14F-4D97-AF65-F5344CB8AC3E}">
        <p14:creationId xmlns:p14="http://schemas.microsoft.com/office/powerpoint/2010/main" val="1693258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02EACD-CCA5-CED0-FE02-81D163AF5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85" y="0"/>
            <a:ext cx="12246429" cy="6858000"/>
          </a:xfrm>
          <a:prstGeom prst="rect">
            <a:avLst/>
          </a:prstGeom>
        </p:spPr>
      </p:pic>
      <p:sp>
        <p:nvSpPr>
          <p:cNvPr id="14" name="TextBox 13">
            <a:extLst>
              <a:ext uri="{FF2B5EF4-FFF2-40B4-BE49-F238E27FC236}">
                <a16:creationId xmlns:a16="http://schemas.microsoft.com/office/drawing/2014/main" id="{C0D4B319-D759-F310-6066-0C5BB33DBCDA}"/>
              </a:ext>
            </a:extLst>
          </p:cNvPr>
          <p:cNvSpPr txBox="1"/>
          <p:nvPr/>
        </p:nvSpPr>
        <p:spPr>
          <a:xfrm>
            <a:off x="0" y="167602"/>
            <a:ext cx="6100996" cy="400110"/>
          </a:xfrm>
          <a:prstGeom prst="rect">
            <a:avLst/>
          </a:prstGeom>
          <a:noFill/>
        </p:spPr>
        <p:txBody>
          <a:bodyPr wrap="square">
            <a:spAutoFit/>
          </a:bodyPr>
          <a:lstStyle/>
          <a:p>
            <a:r>
              <a:rPr lang="en-US" sz="2000" b="1" dirty="0">
                <a:effectLst/>
                <a:latin typeface="Century Schoolbook" panose="02040604050505020304" pitchFamily="18" charset="0"/>
                <a:ea typeface="Calibri" panose="020F0502020204030204" pitchFamily="34" charset="0"/>
                <a:cs typeface="Times New Roman" panose="02020603050405020304" pitchFamily="18" charset="0"/>
              </a:rPr>
              <a:t>Project Objective</a:t>
            </a:r>
            <a:endParaRPr lang="en-US" sz="2000" b="1" dirty="0">
              <a:latin typeface="Century Schoolbook" panose="02040604050505020304" pitchFamily="18" charset="0"/>
            </a:endParaRPr>
          </a:p>
        </p:txBody>
      </p:sp>
      <p:sp>
        <p:nvSpPr>
          <p:cNvPr id="16" name="TextBox 15">
            <a:extLst>
              <a:ext uri="{FF2B5EF4-FFF2-40B4-BE49-F238E27FC236}">
                <a16:creationId xmlns:a16="http://schemas.microsoft.com/office/drawing/2014/main" id="{2BA21029-A3F8-7990-143A-850E01EB5FB2}"/>
              </a:ext>
            </a:extLst>
          </p:cNvPr>
          <p:cNvSpPr txBox="1"/>
          <p:nvPr/>
        </p:nvSpPr>
        <p:spPr>
          <a:xfrm>
            <a:off x="200495" y="931136"/>
            <a:ext cx="6198432" cy="1655581"/>
          </a:xfrm>
          <a:prstGeom prst="rect">
            <a:avLst/>
          </a:prstGeom>
          <a:noFill/>
        </p:spPr>
        <p:txBody>
          <a:bodyPr wrap="square">
            <a:spAutoFit/>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p>
          <a:p>
            <a:pPr marL="285750" marR="0" indent="-285750">
              <a:lnSpc>
                <a:spcPct val="115000"/>
              </a:lnSpc>
              <a:spcAft>
                <a:spcPts val="800"/>
              </a:spcAft>
              <a:buFont typeface="Wingdings" panose="05000000000000000000" pitchFamily="2" charset="2"/>
              <a:buChar char="ü"/>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Analyze bike rental demand using historical data</a:t>
            </a:r>
          </a:p>
          <a:p>
            <a:pPr marL="285750" marR="0" indent="-285750">
              <a:lnSpc>
                <a:spcPct val="115000"/>
              </a:lnSpc>
              <a:spcAft>
                <a:spcPts val="800"/>
              </a:spcAft>
              <a:buFont typeface="Wingdings" panose="05000000000000000000" pitchFamily="2" charset="2"/>
              <a:buChar char="ü"/>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Understand impact of **time, weather, and day type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586681DF-8E0B-25FB-8E9F-9FEBDFF27D2E}"/>
              </a:ext>
            </a:extLst>
          </p:cNvPr>
          <p:cNvSpPr txBox="1"/>
          <p:nvPr/>
        </p:nvSpPr>
        <p:spPr>
          <a:xfrm>
            <a:off x="0" y="2822458"/>
            <a:ext cx="6198432" cy="1754326"/>
          </a:xfrm>
          <a:prstGeom prst="rect">
            <a:avLst/>
          </a:prstGeom>
          <a:noFill/>
        </p:spPr>
        <p:txBody>
          <a:bodyPr wrap="square">
            <a:spAutoFit/>
          </a:bodyPr>
          <a:lstStyle/>
          <a:p>
            <a:r>
              <a:rPr lang="en-US" b="1" dirty="0"/>
              <a:t>Problem Statement :-</a:t>
            </a:r>
            <a:br>
              <a:rPr lang="en-US" b="1" dirty="0"/>
            </a:br>
            <a:endParaRPr lang="en-US" b="1" dirty="0"/>
          </a:p>
          <a:p>
            <a:r>
              <a:rPr lang="en-US" b="1" dirty="0"/>
              <a:t>Analyzing bike-sharing data helps understand how weather, time, and holidays affect bike rentals. This project uses Excel skills to clean, combine, and study datasets to find useful patterns that improve business planning. </a:t>
            </a:r>
          </a:p>
        </p:txBody>
      </p:sp>
      <p:sp>
        <p:nvSpPr>
          <p:cNvPr id="20" name="TextBox 19">
            <a:extLst>
              <a:ext uri="{FF2B5EF4-FFF2-40B4-BE49-F238E27FC236}">
                <a16:creationId xmlns:a16="http://schemas.microsoft.com/office/drawing/2014/main" id="{5731E639-E246-D0F6-9AE0-137B82B62C8B}"/>
              </a:ext>
            </a:extLst>
          </p:cNvPr>
          <p:cNvSpPr txBox="1"/>
          <p:nvPr/>
        </p:nvSpPr>
        <p:spPr>
          <a:xfrm>
            <a:off x="0" y="5268894"/>
            <a:ext cx="6198432" cy="1477328"/>
          </a:xfrm>
          <a:prstGeom prst="rect">
            <a:avLst/>
          </a:prstGeom>
          <a:noFill/>
        </p:spPr>
        <p:txBody>
          <a:bodyPr wrap="square">
            <a:spAutoFit/>
          </a:bodyPr>
          <a:lstStyle/>
          <a:p>
            <a:r>
              <a:rPr lang="en-US" b="1" dirty="0"/>
              <a:t>Situation Overview :-</a:t>
            </a:r>
          </a:p>
          <a:p>
            <a:r>
              <a:rPr lang="en-US" b="1" dirty="0"/>
              <a:t>Data on bike rentals, weather, and user types is collected hourly and daily. This project uses Excel tools to clean and join data, visualize trends, create new features, and prepare easy-to-understand reports. </a:t>
            </a:r>
          </a:p>
        </p:txBody>
      </p:sp>
      <p:pic>
        <p:nvPicPr>
          <p:cNvPr id="22" name="Picture 21">
            <a:extLst>
              <a:ext uri="{FF2B5EF4-FFF2-40B4-BE49-F238E27FC236}">
                <a16:creationId xmlns:a16="http://schemas.microsoft.com/office/drawing/2014/main" id="{589DD651-2484-BD94-F8A4-852D2C3B61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16658063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C518D-DE57-D68C-DF3E-3FEEDEE4360A}"/>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2D8610D2-1B09-B6C2-346D-E73BBD32E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71" y="0"/>
            <a:ext cx="12219661" cy="6843010"/>
          </a:xfrm>
          <a:prstGeom prst="rect">
            <a:avLst/>
          </a:prstGeom>
        </p:spPr>
      </p:pic>
      <p:sp>
        <p:nvSpPr>
          <p:cNvPr id="5" name="TextBox 4">
            <a:extLst>
              <a:ext uri="{FF2B5EF4-FFF2-40B4-BE49-F238E27FC236}">
                <a16:creationId xmlns:a16="http://schemas.microsoft.com/office/drawing/2014/main" id="{227F07C4-DBF2-1896-FDBC-3D09F1D7F522}"/>
              </a:ext>
            </a:extLst>
          </p:cNvPr>
          <p:cNvSpPr txBox="1"/>
          <p:nvPr/>
        </p:nvSpPr>
        <p:spPr>
          <a:xfrm>
            <a:off x="-19986" y="85772"/>
            <a:ext cx="6100996" cy="400110"/>
          </a:xfrm>
          <a:prstGeom prst="rect">
            <a:avLst/>
          </a:prstGeom>
          <a:noFill/>
        </p:spPr>
        <p:txBody>
          <a:bodyPr wrap="square">
            <a:spAutoFit/>
          </a:bodyPr>
          <a:lstStyle/>
          <a:p>
            <a:r>
              <a:rPr lang="en-US" sz="2000" b="1" dirty="0">
                <a:effectLst/>
                <a:latin typeface="Century Schoolbook" panose="02040604050505020304" pitchFamily="18" charset="0"/>
                <a:ea typeface="Calibri" panose="020F0502020204030204" pitchFamily="34" charset="0"/>
                <a:cs typeface="Times New Roman" panose="02020603050405020304" pitchFamily="18" charset="0"/>
              </a:rPr>
              <a:t>Data Description</a:t>
            </a:r>
            <a:endParaRPr lang="en-US" sz="2000" b="1" dirty="0">
              <a:latin typeface="Century Schoolbook" panose="02040604050505020304" pitchFamily="18" charset="0"/>
            </a:endParaRPr>
          </a:p>
        </p:txBody>
      </p:sp>
      <p:sp>
        <p:nvSpPr>
          <p:cNvPr id="15" name="TextBox 14">
            <a:extLst>
              <a:ext uri="{FF2B5EF4-FFF2-40B4-BE49-F238E27FC236}">
                <a16:creationId xmlns:a16="http://schemas.microsoft.com/office/drawing/2014/main" id="{265374F2-ADC1-0D48-5479-23768AAF3770}"/>
              </a:ext>
            </a:extLst>
          </p:cNvPr>
          <p:cNvSpPr txBox="1"/>
          <p:nvPr/>
        </p:nvSpPr>
        <p:spPr>
          <a:xfrm>
            <a:off x="0" y="621407"/>
            <a:ext cx="6130976" cy="1234440"/>
          </a:xfrm>
          <a:prstGeom prst="rect">
            <a:avLst/>
          </a:prstGeom>
          <a:noFill/>
        </p:spPr>
        <p:txBody>
          <a:bodyPr wrap="square">
            <a:spAutoFit/>
          </a:bodyPr>
          <a:lstStyle/>
          <a:p>
            <a:pPr marL="285750" marR="0" indent="-285750">
              <a:lnSpc>
                <a:spcPct val="115000"/>
              </a:lnSpc>
              <a:spcAft>
                <a:spcPts val="800"/>
              </a:spcAft>
              <a:buFont typeface="Wingdings" panose="05000000000000000000" pitchFamily="2" charset="2"/>
              <a:buChar char="v"/>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Weather information (temperature, humidity, rainfall)</a:t>
            </a:r>
          </a:p>
          <a:p>
            <a:pPr marL="285750" marR="0" indent="-285750">
              <a:lnSpc>
                <a:spcPct val="115000"/>
              </a:lnSpc>
              <a:spcAft>
                <a:spcPts val="800"/>
              </a:spcAft>
              <a:buFont typeface="Wingdings" panose="05000000000000000000" pitchFamily="2" charset="2"/>
              <a:buChar char="v"/>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Calendar data (weekday, weekend, holiday)</a:t>
            </a:r>
          </a:p>
          <a:p>
            <a:pPr marL="285750" marR="0" indent="-285750">
              <a:lnSpc>
                <a:spcPct val="115000"/>
              </a:lnSpc>
              <a:spcAft>
                <a:spcPts val="800"/>
              </a:spcAft>
              <a:buFont typeface="Wingdings" panose="05000000000000000000" pitchFamily="2" charset="2"/>
              <a:buChar char="v"/>
            </a:pPr>
            <a:r>
              <a:rPr lang="en-US" b="1" dirty="0">
                <a:latin typeface="Calibri" panose="020F0502020204030204" pitchFamily="34" charset="0"/>
                <a:ea typeface="Calibri" panose="020F0502020204030204" pitchFamily="34" charset="0"/>
                <a:cs typeface="Times New Roman" panose="02020603050405020304" pitchFamily="18" charset="0"/>
              </a:rPr>
              <a:t>Hourly &amp; daily bike rental data</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559F7ADE-082F-19CA-F242-9C7DB063122B}"/>
              </a:ext>
            </a:extLst>
          </p:cNvPr>
          <p:cNvSpPr txBox="1"/>
          <p:nvPr/>
        </p:nvSpPr>
        <p:spPr>
          <a:xfrm>
            <a:off x="14600" y="2194560"/>
            <a:ext cx="6130976" cy="1234440"/>
          </a:xfrm>
          <a:prstGeom prst="rect">
            <a:avLst/>
          </a:prstGeom>
          <a:noFill/>
        </p:spPr>
        <p:txBody>
          <a:bodyPr wrap="square">
            <a:spAutoFit/>
          </a:bodyPr>
          <a:lstStyle/>
          <a:p>
            <a:pPr marL="285750" marR="0" indent="-285750">
              <a:lnSpc>
                <a:spcPct val="115000"/>
              </a:lnSpc>
              <a:spcAft>
                <a:spcPts val="800"/>
              </a:spcAft>
              <a:buFont typeface="Wingdings" panose="05000000000000000000" pitchFamily="2" charset="2"/>
              <a:buChar char="ü"/>
            </a:pPr>
            <a:r>
              <a:rPr lang="en-US" b="1" kern="100" dirty="0">
                <a:latin typeface="Calibri" panose="020F0502020204030204" pitchFamily="34" charset="0"/>
                <a:ea typeface="Calibri" panose="020F0502020204030204" pitchFamily="34" charset="0"/>
                <a:cs typeface="Times New Roman" panose="02020603050405020304" pitchFamily="18" charset="0"/>
              </a:rPr>
              <a:t>High demand days:  0.0</a:t>
            </a:r>
          </a:p>
          <a:p>
            <a:pPr marL="285750" marR="0" indent="-285750">
              <a:lnSpc>
                <a:spcPct val="115000"/>
              </a:lnSpc>
              <a:spcAft>
                <a:spcPts val="800"/>
              </a:spcAft>
              <a:buFont typeface="Wingdings" panose="05000000000000000000" pitchFamily="2" charset="2"/>
              <a:buChar char="ü"/>
            </a:pPr>
            <a:r>
              <a:rPr lang="en-US" b="1" kern="100" dirty="0">
                <a:latin typeface="Calibri" panose="020F0502020204030204" pitchFamily="34" charset="0"/>
                <a:ea typeface="Calibri" panose="020F0502020204030204" pitchFamily="34" charset="0"/>
                <a:cs typeface="Times New Roman" panose="02020603050405020304" pitchFamily="18" charset="0"/>
              </a:rPr>
              <a:t>Weather vs rentals correlation: 0.23</a:t>
            </a:r>
          </a:p>
          <a:p>
            <a:pPr marL="285750" marR="0" indent="-285750">
              <a:lnSpc>
                <a:spcPct val="115000"/>
              </a:lnSpc>
              <a:spcAft>
                <a:spcPts val="800"/>
              </a:spcAft>
              <a:buFont typeface="Wingdings" panose="05000000000000000000" pitchFamily="2" charset="2"/>
              <a:buChar char="ü"/>
            </a:pPr>
            <a:r>
              <a:rPr lang="en-US" b="1" kern="100" dirty="0">
                <a:latin typeface="Calibri" panose="020F0502020204030204" pitchFamily="34" charset="0"/>
                <a:ea typeface="Calibri" panose="020F0502020204030204" pitchFamily="34" charset="0"/>
                <a:cs typeface="Times New Roman" panose="02020603050405020304" pitchFamily="18" charset="0"/>
              </a:rPr>
              <a:t>Demand variation: 51.0</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1" name="Picture 30">
            <a:extLst>
              <a:ext uri="{FF2B5EF4-FFF2-40B4-BE49-F238E27FC236}">
                <a16:creationId xmlns:a16="http://schemas.microsoft.com/office/drawing/2014/main" id="{17EFA10C-07DA-6060-E456-3BA8B80C78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graphicFrame>
        <p:nvGraphicFramePr>
          <p:cNvPr id="2" name="Table 1">
            <a:extLst>
              <a:ext uri="{FF2B5EF4-FFF2-40B4-BE49-F238E27FC236}">
                <a16:creationId xmlns:a16="http://schemas.microsoft.com/office/drawing/2014/main" id="{32C222D1-C1C9-25F7-414C-6D446096F116}"/>
              </a:ext>
            </a:extLst>
          </p:cNvPr>
          <p:cNvGraphicFramePr>
            <a:graphicFrameLocks noGrp="1"/>
          </p:cNvGraphicFramePr>
          <p:nvPr>
            <p:extLst>
              <p:ext uri="{D42A27DB-BD31-4B8C-83A1-F6EECF244321}">
                <p14:modId xmlns:p14="http://schemas.microsoft.com/office/powerpoint/2010/main" val="530542356"/>
              </p:ext>
            </p:extLst>
          </p:nvPr>
        </p:nvGraphicFramePr>
        <p:xfrm>
          <a:off x="149902" y="3767713"/>
          <a:ext cx="2656590" cy="1629866"/>
        </p:xfrm>
        <a:graphic>
          <a:graphicData uri="http://schemas.openxmlformats.org/drawingml/2006/table">
            <a:tbl>
              <a:tblPr>
                <a:tableStyleId>{5C22544A-7EE6-4342-B048-85BDC9FD1C3A}</a:tableStyleId>
              </a:tblPr>
              <a:tblGrid>
                <a:gridCol w="1254814">
                  <a:extLst>
                    <a:ext uri="{9D8B030D-6E8A-4147-A177-3AD203B41FA5}">
                      <a16:colId xmlns:a16="http://schemas.microsoft.com/office/drawing/2014/main" val="3914631397"/>
                    </a:ext>
                  </a:extLst>
                </a:gridCol>
                <a:gridCol w="1401776">
                  <a:extLst>
                    <a:ext uri="{9D8B030D-6E8A-4147-A177-3AD203B41FA5}">
                      <a16:colId xmlns:a16="http://schemas.microsoft.com/office/drawing/2014/main" val="219098452"/>
                    </a:ext>
                  </a:extLst>
                </a:gridCol>
              </a:tblGrid>
              <a:tr h="232838">
                <a:tc gridSpan="2">
                  <a:txBody>
                    <a:bodyPr/>
                    <a:lstStyle/>
                    <a:p>
                      <a:pPr algn="ctr" fontAlgn="b">
                        <a:buNone/>
                      </a:pPr>
                      <a:r>
                        <a:rPr lang="en-US" sz="1200" u="none" strike="noStrike">
                          <a:effectLst/>
                        </a:rPr>
                        <a:t>Total rentals by weather</a:t>
                      </a:r>
                      <a:endParaRPr lang="en-US" sz="1200" b="1"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1879037210"/>
                  </a:ext>
                </a:extLst>
              </a:tr>
              <a:tr h="232838">
                <a:tc>
                  <a:txBody>
                    <a:bodyPr/>
                    <a:lstStyle/>
                    <a:p>
                      <a:pPr algn="ctr" fontAlgn="b">
                        <a:buNone/>
                      </a:pPr>
                      <a:r>
                        <a:rPr lang="en-US" sz="1200" u="none" strike="noStrike">
                          <a:effectLst/>
                        </a:rPr>
                        <a:t>Weather</a:t>
                      </a:r>
                      <a:endParaRPr lang="en-US" sz="12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Rentals </a:t>
                      </a:r>
                      <a:endParaRPr lang="en-US" sz="12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80474895"/>
                  </a:ext>
                </a:extLst>
              </a:tr>
              <a:tr h="232838">
                <a:tc>
                  <a:txBody>
                    <a:bodyPr/>
                    <a:lstStyle/>
                    <a:p>
                      <a:pPr algn="ctr" fontAlgn="b">
                        <a:buNone/>
                      </a:pPr>
                      <a:r>
                        <a:rPr lang="en-US" sz="1200" u="none" strike="noStrike">
                          <a:effectLst/>
                        </a:rPr>
                        <a:t>Clear</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57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57564052"/>
                  </a:ext>
                </a:extLst>
              </a:tr>
              <a:tr h="232838">
                <a:tc>
                  <a:txBody>
                    <a:bodyPr/>
                    <a:lstStyle/>
                    <a:p>
                      <a:pPr algn="ctr" fontAlgn="b">
                        <a:buNone/>
                      </a:pPr>
                      <a:r>
                        <a:rPr lang="en-US" sz="1200" u="none" strike="noStrike">
                          <a:effectLst/>
                        </a:rPr>
                        <a:t>Cloudy</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66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14432289"/>
                  </a:ext>
                </a:extLst>
              </a:tr>
              <a:tr h="232838">
                <a:tc>
                  <a:txBody>
                    <a:bodyPr/>
                    <a:lstStyle/>
                    <a:p>
                      <a:pPr algn="ctr" fontAlgn="b">
                        <a:buNone/>
                      </a:pPr>
                      <a:r>
                        <a:rPr lang="en-US" sz="1200" u="none" strike="noStrike">
                          <a:effectLst/>
                        </a:rPr>
                        <a:t>Rain</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61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75472998"/>
                  </a:ext>
                </a:extLst>
              </a:tr>
              <a:tr h="232838">
                <a:tc>
                  <a:txBody>
                    <a:bodyPr/>
                    <a:lstStyle/>
                    <a:p>
                      <a:pPr algn="ctr" fontAlgn="b">
                        <a:buNone/>
                      </a:pPr>
                      <a:r>
                        <a:rPr lang="en-US" sz="1200" u="none" strike="noStrike" dirty="0">
                          <a:effectLst/>
                        </a:rPr>
                        <a:t>Severe</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56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27477820"/>
                  </a:ext>
                </a:extLst>
              </a:tr>
              <a:tr h="232838">
                <a:tc>
                  <a:txBody>
                    <a:bodyPr/>
                    <a:lstStyle/>
                    <a:p>
                      <a:pPr algn="ctr" fontAlgn="b">
                        <a:buNone/>
                      </a:pPr>
                      <a:r>
                        <a:rPr lang="en-US" sz="1200" u="none" strike="noStrike">
                          <a:effectLst/>
                        </a:rPr>
                        <a:t>Grand Total</a:t>
                      </a:r>
                      <a:endParaRPr lang="en-US" sz="12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58</a:t>
                      </a:r>
                      <a:endParaRPr lang="en-US"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18469281"/>
                  </a:ext>
                </a:extLst>
              </a:tr>
            </a:tbl>
          </a:graphicData>
        </a:graphic>
      </p:graphicFrame>
      <p:graphicFrame>
        <p:nvGraphicFramePr>
          <p:cNvPr id="3" name="Table 2">
            <a:extLst>
              <a:ext uri="{FF2B5EF4-FFF2-40B4-BE49-F238E27FC236}">
                <a16:creationId xmlns:a16="http://schemas.microsoft.com/office/drawing/2014/main" id="{29708240-BC09-7572-B66D-EAF50D943326}"/>
              </a:ext>
            </a:extLst>
          </p:cNvPr>
          <p:cNvGraphicFramePr>
            <a:graphicFrameLocks noGrp="1"/>
          </p:cNvGraphicFramePr>
          <p:nvPr>
            <p:extLst>
              <p:ext uri="{D42A27DB-BD31-4B8C-83A1-F6EECF244321}">
                <p14:modId xmlns:p14="http://schemas.microsoft.com/office/powerpoint/2010/main" val="1291564776"/>
              </p:ext>
            </p:extLst>
          </p:nvPr>
        </p:nvGraphicFramePr>
        <p:xfrm>
          <a:off x="149902" y="5736292"/>
          <a:ext cx="3072152" cy="773973"/>
        </p:xfrm>
        <a:graphic>
          <a:graphicData uri="http://schemas.openxmlformats.org/drawingml/2006/table">
            <a:tbl>
              <a:tblPr>
                <a:tableStyleId>{5C22544A-7EE6-4342-B048-85BDC9FD1C3A}</a:tableStyleId>
              </a:tblPr>
              <a:tblGrid>
                <a:gridCol w="2653222">
                  <a:extLst>
                    <a:ext uri="{9D8B030D-6E8A-4147-A177-3AD203B41FA5}">
                      <a16:colId xmlns:a16="http://schemas.microsoft.com/office/drawing/2014/main" val="3056853476"/>
                    </a:ext>
                  </a:extLst>
                </a:gridCol>
                <a:gridCol w="418930">
                  <a:extLst>
                    <a:ext uri="{9D8B030D-6E8A-4147-A177-3AD203B41FA5}">
                      <a16:colId xmlns:a16="http://schemas.microsoft.com/office/drawing/2014/main" val="2428565103"/>
                    </a:ext>
                  </a:extLst>
                </a:gridCol>
              </a:tblGrid>
              <a:tr h="257991">
                <a:tc>
                  <a:txBody>
                    <a:bodyPr/>
                    <a:lstStyle/>
                    <a:p>
                      <a:pPr algn="ctr" fontAlgn="b">
                        <a:buNone/>
                      </a:pPr>
                      <a:r>
                        <a:rPr lang="en-US" sz="1400" u="none" strike="noStrike">
                          <a:effectLst/>
                        </a:rPr>
                        <a:t>High demand days:</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400" u="none" strike="noStrike">
                          <a:effectLst/>
                        </a:rPr>
                        <a:t>0.0</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63937318"/>
                  </a:ext>
                </a:extLst>
              </a:tr>
              <a:tr h="257991">
                <a:tc>
                  <a:txBody>
                    <a:bodyPr/>
                    <a:lstStyle/>
                    <a:p>
                      <a:pPr algn="ctr" fontAlgn="b">
                        <a:buNone/>
                      </a:pPr>
                      <a:r>
                        <a:rPr lang="en-US" sz="1400" u="none" strike="noStrike">
                          <a:effectLst/>
                        </a:rPr>
                        <a:t>Weather vs rentals correlation:</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400" u="none" strike="noStrike">
                          <a:effectLst/>
                        </a:rPr>
                        <a:t>0.23</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2572203"/>
                  </a:ext>
                </a:extLst>
              </a:tr>
              <a:tr h="257991">
                <a:tc>
                  <a:txBody>
                    <a:bodyPr/>
                    <a:lstStyle/>
                    <a:p>
                      <a:pPr algn="ctr" fontAlgn="b">
                        <a:buNone/>
                      </a:pPr>
                      <a:r>
                        <a:rPr lang="en-US" sz="1400" u="none" strike="noStrike">
                          <a:effectLst/>
                        </a:rPr>
                        <a:t>Demand variation:</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400" u="none" strike="noStrike" dirty="0">
                          <a:effectLst/>
                        </a:rPr>
                        <a:t>51.0</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82637063"/>
                  </a:ext>
                </a:extLst>
              </a:tr>
            </a:tbl>
          </a:graphicData>
        </a:graphic>
      </p:graphicFrame>
    </p:spTree>
    <p:extLst>
      <p:ext uri="{BB962C8B-B14F-4D97-AF65-F5344CB8AC3E}">
        <p14:creationId xmlns:p14="http://schemas.microsoft.com/office/powerpoint/2010/main" val="34025823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7F90C-76C6-CF99-5E92-242FD9A8D1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7B2D2D9-545C-FF29-A9DF-64B551F62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 y="0"/>
            <a:ext cx="12192390" cy="6827738"/>
          </a:xfrm>
          <a:prstGeom prst="rect">
            <a:avLst/>
          </a:prstGeom>
        </p:spPr>
      </p:pic>
      <p:sp>
        <p:nvSpPr>
          <p:cNvPr id="4" name="TextBox 3">
            <a:extLst>
              <a:ext uri="{FF2B5EF4-FFF2-40B4-BE49-F238E27FC236}">
                <a16:creationId xmlns:a16="http://schemas.microsoft.com/office/drawing/2014/main" id="{8AAAA88B-86D6-0ABA-D7CA-D0DED89FEDD6}"/>
              </a:ext>
            </a:extLst>
          </p:cNvPr>
          <p:cNvSpPr txBox="1"/>
          <p:nvPr/>
        </p:nvSpPr>
        <p:spPr>
          <a:xfrm>
            <a:off x="296205" y="305442"/>
            <a:ext cx="8596085" cy="400110"/>
          </a:xfrm>
          <a:prstGeom prst="rect">
            <a:avLst/>
          </a:prstGeom>
          <a:noFill/>
        </p:spPr>
        <p:txBody>
          <a:bodyPr wrap="square">
            <a:spAutoFit/>
          </a:bodyPr>
          <a:lstStyle/>
          <a:p>
            <a:pPr marL="342900" indent="-342900">
              <a:buFont typeface="Wingdings" panose="05000000000000000000" pitchFamily="2" charset="2"/>
              <a:buChar char="v"/>
            </a:pPr>
            <a:r>
              <a:rPr lang="en-US" sz="2000" b="1" dirty="0">
                <a:latin typeface="Calibri" panose="020F0502020204030204" pitchFamily="34" charset="0"/>
                <a:ea typeface="Calibri" panose="020F0502020204030204" pitchFamily="34" charset="0"/>
                <a:cs typeface="Times New Roman" panose="02020603050405020304" pitchFamily="18" charset="0"/>
              </a:rPr>
              <a:t>Data Cleaning Steps</a:t>
            </a:r>
            <a:endParaRPr lang="en-US" sz="2000" b="1" dirty="0"/>
          </a:p>
        </p:txBody>
      </p:sp>
      <p:sp>
        <p:nvSpPr>
          <p:cNvPr id="6" name="TextBox 5">
            <a:extLst>
              <a:ext uri="{FF2B5EF4-FFF2-40B4-BE49-F238E27FC236}">
                <a16:creationId xmlns:a16="http://schemas.microsoft.com/office/drawing/2014/main" id="{8D24E81B-7570-C445-B38B-93D215105F66}"/>
              </a:ext>
            </a:extLst>
          </p:cNvPr>
          <p:cNvSpPr txBox="1"/>
          <p:nvPr/>
        </p:nvSpPr>
        <p:spPr>
          <a:xfrm>
            <a:off x="296205" y="996004"/>
            <a:ext cx="6100996" cy="3761286"/>
          </a:xfrm>
          <a:prstGeom prst="rect">
            <a:avLst/>
          </a:prstGeom>
          <a:noFill/>
        </p:spPr>
        <p:txBody>
          <a:bodyPr wrap="square">
            <a:spAutoFit/>
          </a:bodyPr>
          <a:lstStyle/>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Removed duplicates and missing values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Corrected date and number formats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Merged datasets using **date &amp; hour**</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Created new columns: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Month</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Day Type (Weekday / Weekend)</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Weather Category</a:t>
            </a:r>
          </a:p>
        </p:txBody>
      </p:sp>
      <p:pic>
        <p:nvPicPr>
          <p:cNvPr id="10" name="Picture 9">
            <a:extLst>
              <a:ext uri="{FF2B5EF4-FFF2-40B4-BE49-F238E27FC236}">
                <a16:creationId xmlns:a16="http://schemas.microsoft.com/office/drawing/2014/main" id="{5A872F43-5FD3-3C01-E648-BE88F46DE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852" y="5045897"/>
            <a:ext cx="1597597" cy="1231481"/>
          </a:xfrm>
          <a:prstGeom prst="rect">
            <a:avLst/>
          </a:prstGeom>
        </p:spPr>
      </p:pic>
      <p:sp>
        <p:nvSpPr>
          <p:cNvPr id="12" name="TextBox 11">
            <a:extLst>
              <a:ext uri="{FF2B5EF4-FFF2-40B4-BE49-F238E27FC236}">
                <a16:creationId xmlns:a16="http://schemas.microsoft.com/office/drawing/2014/main" id="{7663BFAC-C6FB-F12C-F140-26BEABF9F151}"/>
              </a:ext>
            </a:extLst>
          </p:cNvPr>
          <p:cNvSpPr txBox="1"/>
          <p:nvPr/>
        </p:nvSpPr>
        <p:spPr>
          <a:xfrm>
            <a:off x="550889" y="6367892"/>
            <a:ext cx="6198432" cy="369332"/>
          </a:xfrm>
          <a:prstGeom prst="rect">
            <a:avLst/>
          </a:prstGeom>
          <a:noFill/>
        </p:spPr>
        <p:txBody>
          <a:bodyPr wrap="square">
            <a:spAutoFit/>
          </a:bodyPr>
          <a:lstStyle/>
          <a:p>
            <a:r>
              <a:rPr lang="en-US" sz="18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Clean </a:t>
            </a:r>
            <a:endParaRPr lang="en-US" dirty="0"/>
          </a:p>
        </p:txBody>
      </p:sp>
      <p:pic>
        <p:nvPicPr>
          <p:cNvPr id="14" name="Picture 13">
            <a:extLst>
              <a:ext uri="{FF2B5EF4-FFF2-40B4-BE49-F238E27FC236}">
                <a16:creationId xmlns:a16="http://schemas.microsoft.com/office/drawing/2014/main" id="{A00FEBE4-8D8F-7B54-401B-F5A07DFDF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5691" y="5045897"/>
            <a:ext cx="1314689" cy="1231481"/>
          </a:xfrm>
          <a:prstGeom prst="rect">
            <a:avLst/>
          </a:prstGeom>
        </p:spPr>
      </p:pic>
      <p:sp>
        <p:nvSpPr>
          <p:cNvPr id="16" name="TextBox 15">
            <a:extLst>
              <a:ext uri="{FF2B5EF4-FFF2-40B4-BE49-F238E27FC236}">
                <a16:creationId xmlns:a16="http://schemas.microsoft.com/office/drawing/2014/main" id="{715CA5A8-FF3B-287D-BF61-E513C8D68BE4}"/>
              </a:ext>
            </a:extLst>
          </p:cNvPr>
          <p:cNvSpPr txBox="1"/>
          <p:nvPr/>
        </p:nvSpPr>
        <p:spPr>
          <a:xfrm>
            <a:off x="2660754" y="6367892"/>
            <a:ext cx="6100996" cy="369332"/>
          </a:xfrm>
          <a:prstGeom prst="rect">
            <a:avLst/>
          </a:prstGeom>
          <a:noFill/>
        </p:spPr>
        <p:txBody>
          <a:bodyPr wrap="square">
            <a:spAutoFit/>
          </a:bodyPr>
          <a:lstStyle/>
          <a:p>
            <a:r>
              <a:rPr lang="en-US" dirty="0"/>
              <a:t>✔ Merge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pic>
        <p:nvPicPr>
          <p:cNvPr id="18" name="Picture 17">
            <a:extLst>
              <a:ext uri="{FF2B5EF4-FFF2-40B4-BE49-F238E27FC236}">
                <a16:creationId xmlns:a16="http://schemas.microsoft.com/office/drawing/2014/main" id="{4968E12F-EF29-9B45-343C-815B7D29A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8216" y="5081380"/>
            <a:ext cx="1597597" cy="1231481"/>
          </a:xfrm>
          <a:prstGeom prst="rect">
            <a:avLst/>
          </a:prstGeom>
        </p:spPr>
      </p:pic>
      <p:sp>
        <p:nvSpPr>
          <p:cNvPr id="20" name="TextBox 19">
            <a:extLst>
              <a:ext uri="{FF2B5EF4-FFF2-40B4-BE49-F238E27FC236}">
                <a16:creationId xmlns:a16="http://schemas.microsoft.com/office/drawing/2014/main" id="{CE790AE3-4492-EDD8-6DB1-78A7FF1561BC}"/>
              </a:ext>
            </a:extLst>
          </p:cNvPr>
          <p:cNvSpPr txBox="1"/>
          <p:nvPr/>
        </p:nvSpPr>
        <p:spPr>
          <a:xfrm>
            <a:off x="4351208" y="6403375"/>
            <a:ext cx="6198432" cy="369332"/>
          </a:xfrm>
          <a:prstGeom prst="rect">
            <a:avLst/>
          </a:prstGeom>
          <a:noFill/>
        </p:spPr>
        <p:txBody>
          <a:bodyPr wrap="square">
            <a:spAutoFit/>
          </a:bodyPr>
          <a:lstStyle/>
          <a:p>
            <a:r>
              <a:rPr lang="en-US" sz="18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Format</a:t>
            </a:r>
            <a:endParaRPr lang="en-US" dirty="0"/>
          </a:p>
        </p:txBody>
      </p:sp>
      <p:pic>
        <p:nvPicPr>
          <p:cNvPr id="21" name="Picture 20">
            <a:extLst>
              <a:ext uri="{FF2B5EF4-FFF2-40B4-BE49-F238E27FC236}">
                <a16:creationId xmlns:a16="http://schemas.microsoft.com/office/drawing/2014/main" id="{3B9DC369-6254-AA4E-8FAD-024424E486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22746783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F1AC1-E5BD-3F2E-14B6-F23DE179681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47CF3D5-08D3-0EDD-F9ED-DE6E30CDC9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968" y="0"/>
            <a:ext cx="12473958" cy="6985416"/>
          </a:xfrm>
          <a:prstGeom prst="rect">
            <a:avLst/>
          </a:prstGeom>
        </p:spPr>
      </p:pic>
      <p:sp>
        <p:nvSpPr>
          <p:cNvPr id="3" name="TextBox 2">
            <a:extLst>
              <a:ext uri="{FF2B5EF4-FFF2-40B4-BE49-F238E27FC236}">
                <a16:creationId xmlns:a16="http://schemas.microsoft.com/office/drawing/2014/main" id="{BB5170B7-F697-69BB-12B5-D5DBAD29BBA9}"/>
              </a:ext>
            </a:extLst>
          </p:cNvPr>
          <p:cNvSpPr txBox="1"/>
          <p:nvPr/>
        </p:nvSpPr>
        <p:spPr>
          <a:xfrm>
            <a:off x="129912" y="337901"/>
            <a:ext cx="6235908" cy="3446328"/>
          </a:xfrm>
          <a:prstGeom prst="rect">
            <a:avLst/>
          </a:prstGeom>
          <a:noFill/>
        </p:spPr>
        <p:txBody>
          <a:bodyPr wrap="square">
            <a:spAutoFit/>
          </a:bodyPr>
          <a:lstStyle/>
          <a:p>
            <a:pPr marL="0" marR="0">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Tools &amp; Techniques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r>
              <a:rPr lang="en-US" b="1" kern="100" dirty="0">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Excel formulas (SUM, AVERAGE, IF, COUNTIF)</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Pivot Tables &amp; Pivot Charts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Conditional Formatting (Heatmaps &amp; Anomalies)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Forecast Sheet for demand prediction</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Slicers for interactive dashboard</a:t>
            </a:r>
          </a:p>
        </p:txBody>
      </p:sp>
      <p:pic>
        <p:nvPicPr>
          <p:cNvPr id="9" name="Picture 8">
            <a:extLst>
              <a:ext uri="{FF2B5EF4-FFF2-40B4-BE49-F238E27FC236}">
                <a16:creationId xmlns:a16="http://schemas.microsoft.com/office/drawing/2014/main" id="{691EE438-31FA-A89F-9B67-F3DF86A67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014" y="4122130"/>
            <a:ext cx="2143125" cy="2143125"/>
          </a:xfrm>
          <a:prstGeom prst="rect">
            <a:avLst/>
          </a:prstGeom>
        </p:spPr>
      </p:pic>
      <p:sp>
        <p:nvSpPr>
          <p:cNvPr id="11" name="TextBox 10">
            <a:extLst>
              <a:ext uri="{FF2B5EF4-FFF2-40B4-BE49-F238E27FC236}">
                <a16:creationId xmlns:a16="http://schemas.microsoft.com/office/drawing/2014/main" id="{93636A49-9210-7AAE-E33E-F1252D58D3E2}"/>
              </a:ext>
            </a:extLst>
          </p:cNvPr>
          <p:cNvSpPr txBox="1"/>
          <p:nvPr/>
        </p:nvSpPr>
        <p:spPr>
          <a:xfrm>
            <a:off x="1615191" y="6335433"/>
            <a:ext cx="6198432" cy="369332"/>
          </a:xfrm>
          <a:prstGeom prst="rect">
            <a:avLst/>
          </a:prstGeom>
          <a:noFill/>
        </p:spPr>
        <p:txBody>
          <a:bodyPr wrap="square">
            <a:spAutoFit/>
          </a:bodyPr>
          <a:lstStyle/>
          <a:p>
            <a:r>
              <a:rPr lang="en-US" sz="18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Excel</a:t>
            </a:r>
            <a:endParaRPr lang="en-US" dirty="0"/>
          </a:p>
        </p:txBody>
      </p:sp>
      <p:pic>
        <p:nvPicPr>
          <p:cNvPr id="13" name="Picture 12">
            <a:extLst>
              <a:ext uri="{FF2B5EF4-FFF2-40B4-BE49-F238E27FC236}">
                <a16:creationId xmlns:a16="http://schemas.microsoft.com/office/drawing/2014/main" id="{F262BFB3-ADD1-B076-C170-4EB79A9F99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23491980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DD5D-EE1C-BC1B-22B0-2DBCF1F6A66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1D39C34-794B-A0B4-7914-E319EBD3B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 y="0"/>
            <a:ext cx="12192390" cy="6827738"/>
          </a:xfrm>
          <a:prstGeom prst="rect">
            <a:avLst/>
          </a:prstGeom>
        </p:spPr>
      </p:pic>
      <p:sp>
        <p:nvSpPr>
          <p:cNvPr id="3" name="TextBox 2">
            <a:extLst>
              <a:ext uri="{FF2B5EF4-FFF2-40B4-BE49-F238E27FC236}">
                <a16:creationId xmlns:a16="http://schemas.microsoft.com/office/drawing/2014/main" id="{76E27811-CA89-6345-96DC-4E16DB42BC9F}"/>
              </a:ext>
            </a:extLst>
          </p:cNvPr>
          <p:cNvSpPr txBox="1"/>
          <p:nvPr/>
        </p:nvSpPr>
        <p:spPr>
          <a:xfrm>
            <a:off x="249213" y="208363"/>
            <a:ext cx="6100996" cy="3867469"/>
          </a:xfrm>
          <a:prstGeom prst="rect">
            <a:avLst/>
          </a:prstGeom>
          <a:noFill/>
        </p:spPr>
        <p:txBody>
          <a:bodyPr wrap="square">
            <a:spAutoFit/>
          </a:bodyPr>
          <a:lstStyle/>
          <a:p>
            <a:pPr marL="0" marR="0">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Time-Based Demand Analysis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Demand by Hour &amp; Day</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Highest demand during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Morning (8–9 AM)</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Evening (5–7 PM)</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Weekdays show commuting patterns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Weekends show leisure usage</a:t>
            </a:r>
          </a:p>
        </p:txBody>
      </p:sp>
      <p:graphicFrame>
        <p:nvGraphicFramePr>
          <p:cNvPr id="5" name="Chart 4">
            <a:extLst>
              <a:ext uri="{FF2B5EF4-FFF2-40B4-BE49-F238E27FC236}">
                <a16:creationId xmlns:a16="http://schemas.microsoft.com/office/drawing/2014/main" id="{6F001993-82C2-586A-07C2-178730329890}"/>
              </a:ext>
            </a:extLst>
          </p:cNvPr>
          <p:cNvGraphicFramePr>
            <a:graphicFrameLocks/>
          </p:cNvGraphicFramePr>
          <p:nvPr>
            <p:extLst>
              <p:ext uri="{D42A27DB-BD31-4B8C-83A1-F6EECF244321}">
                <p14:modId xmlns:p14="http://schemas.microsoft.com/office/powerpoint/2010/main" val="2669048728"/>
              </p:ext>
            </p:extLst>
          </p:nvPr>
        </p:nvGraphicFramePr>
        <p:xfrm>
          <a:off x="407231" y="4075832"/>
          <a:ext cx="4464571" cy="2501427"/>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D410E450-9964-715F-9D80-18D3605A7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17066116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8299B-6550-0F90-9FE5-9E987A8BF76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A10FB38-B4F5-885F-0E55-427B0C7D0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1" y="14990"/>
            <a:ext cx="12219661" cy="6843010"/>
          </a:xfrm>
          <a:prstGeom prst="rect">
            <a:avLst/>
          </a:prstGeom>
        </p:spPr>
      </p:pic>
      <p:sp>
        <p:nvSpPr>
          <p:cNvPr id="3" name="TextBox 2">
            <a:extLst>
              <a:ext uri="{FF2B5EF4-FFF2-40B4-BE49-F238E27FC236}">
                <a16:creationId xmlns:a16="http://schemas.microsoft.com/office/drawing/2014/main" id="{53C446F0-572F-51AF-90F1-ED7EFE7967AE}"/>
              </a:ext>
            </a:extLst>
          </p:cNvPr>
          <p:cNvSpPr txBox="1"/>
          <p:nvPr/>
        </p:nvSpPr>
        <p:spPr>
          <a:xfrm>
            <a:off x="241718" y="239757"/>
            <a:ext cx="6115986" cy="3552511"/>
          </a:xfrm>
          <a:prstGeom prst="rect">
            <a:avLst/>
          </a:prstGeom>
          <a:noFill/>
        </p:spPr>
        <p:txBody>
          <a:bodyPr wrap="square">
            <a:spAutoFit/>
          </a:bodyPr>
          <a:lstStyle/>
          <a:p>
            <a:pPr marL="0" marR="0">
              <a:lnSpc>
                <a:spcPct val="115000"/>
              </a:lnSpc>
              <a:spcAft>
                <a:spcPts val="800"/>
              </a:spcAft>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Weather Impact Analysis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15000"/>
              </a:lnSpc>
              <a:spcAft>
                <a:spcPts val="800"/>
              </a:spcAft>
              <a:buNone/>
            </a:pP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Impact of Weather on Rentals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Clear weather → highest rentals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Cloudy weather → moderate impact</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Rainy days → sharp drop in demand</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Temperature positively correlates with rentals</a:t>
            </a:r>
          </a:p>
        </p:txBody>
      </p:sp>
      <p:graphicFrame>
        <p:nvGraphicFramePr>
          <p:cNvPr id="5" name="Chart 4">
            <a:extLst>
              <a:ext uri="{FF2B5EF4-FFF2-40B4-BE49-F238E27FC236}">
                <a16:creationId xmlns:a16="http://schemas.microsoft.com/office/drawing/2014/main" id="{8ED5E20B-EC3A-7B58-E55F-E052F1126F08}"/>
              </a:ext>
            </a:extLst>
          </p:cNvPr>
          <p:cNvGraphicFramePr>
            <a:graphicFrameLocks/>
          </p:cNvGraphicFramePr>
          <p:nvPr>
            <p:extLst>
              <p:ext uri="{D42A27DB-BD31-4B8C-83A1-F6EECF244321}">
                <p14:modId xmlns:p14="http://schemas.microsoft.com/office/powerpoint/2010/main" val="1693916964"/>
              </p:ext>
            </p:extLst>
          </p:nvPr>
        </p:nvGraphicFramePr>
        <p:xfrm>
          <a:off x="497173" y="3875043"/>
          <a:ext cx="4572000" cy="2743200"/>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D6931997-7CF6-EC6F-3B76-35E36C95A3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24321847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EE10B-5947-B06E-33FC-9244F03841A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9969BCF-0737-71AD-F416-0580B9A440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45" y="-1"/>
            <a:ext cx="12233045" cy="6850505"/>
          </a:xfrm>
          <a:prstGeom prst="rect">
            <a:avLst/>
          </a:prstGeom>
        </p:spPr>
      </p:pic>
      <p:sp>
        <p:nvSpPr>
          <p:cNvPr id="3" name="TextBox 2">
            <a:extLst>
              <a:ext uri="{FF2B5EF4-FFF2-40B4-BE49-F238E27FC236}">
                <a16:creationId xmlns:a16="http://schemas.microsoft.com/office/drawing/2014/main" id="{34C5033D-7571-B01A-93A2-4DE7827CDF5C}"/>
              </a:ext>
            </a:extLst>
          </p:cNvPr>
          <p:cNvSpPr txBox="1"/>
          <p:nvPr/>
        </p:nvSpPr>
        <p:spPr>
          <a:xfrm>
            <a:off x="237971" y="-1"/>
            <a:ext cx="6123480" cy="2674835"/>
          </a:xfrm>
          <a:prstGeom prst="rect">
            <a:avLst/>
          </a:prstGeom>
          <a:noFill/>
        </p:spPr>
        <p:txBody>
          <a:bodyPr wrap="square">
            <a:spAutoFit/>
          </a:bodyPr>
          <a:lstStyle/>
          <a:p>
            <a:pPr marL="0" marR="0">
              <a:lnSpc>
                <a:spcPct val="115000"/>
              </a:lnSpc>
              <a:spcAft>
                <a:spcPts val="800"/>
              </a:spcAft>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Casual vs Registered Users</a:t>
            </a: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User Type Analysis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Bullet Points:-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Registered users dominate weekday rentals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Casual users increase on weekends &amp; holidays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Business demand is more stable than leisure demand</a:t>
            </a:r>
          </a:p>
        </p:txBody>
      </p:sp>
      <p:graphicFrame>
        <p:nvGraphicFramePr>
          <p:cNvPr id="5" name="Chart 4">
            <a:extLst>
              <a:ext uri="{FF2B5EF4-FFF2-40B4-BE49-F238E27FC236}">
                <a16:creationId xmlns:a16="http://schemas.microsoft.com/office/drawing/2014/main" id="{8C7218FE-37CB-2FFD-3EC1-E8F64BC20FD1}"/>
              </a:ext>
            </a:extLst>
          </p:cNvPr>
          <p:cNvGraphicFramePr>
            <a:graphicFrameLocks/>
          </p:cNvGraphicFramePr>
          <p:nvPr>
            <p:extLst>
              <p:ext uri="{D42A27DB-BD31-4B8C-83A1-F6EECF244321}">
                <p14:modId xmlns:p14="http://schemas.microsoft.com/office/powerpoint/2010/main" val="676731027"/>
              </p:ext>
            </p:extLst>
          </p:nvPr>
        </p:nvGraphicFramePr>
        <p:xfrm>
          <a:off x="237971" y="2923082"/>
          <a:ext cx="5218449" cy="3271604"/>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D61E0985-AD43-9FFD-BB4C-1E97AD844A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15097136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CDC0F-1610-1F65-B3BA-DB19090165A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E433A99-2803-0401-9EA7-FDB5951C3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 y="0"/>
            <a:ext cx="12192390" cy="6827738"/>
          </a:xfrm>
          <a:prstGeom prst="rect">
            <a:avLst/>
          </a:prstGeom>
        </p:spPr>
      </p:pic>
      <p:sp>
        <p:nvSpPr>
          <p:cNvPr id="9" name="TextBox 8">
            <a:extLst>
              <a:ext uri="{FF2B5EF4-FFF2-40B4-BE49-F238E27FC236}">
                <a16:creationId xmlns:a16="http://schemas.microsoft.com/office/drawing/2014/main" id="{408ECC7A-1699-FD57-50B8-9FCFA9E18A28}"/>
              </a:ext>
            </a:extLst>
          </p:cNvPr>
          <p:cNvSpPr txBox="1"/>
          <p:nvPr/>
        </p:nvSpPr>
        <p:spPr>
          <a:xfrm>
            <a:off x="249213" y="155432"/>
            <a:ext cx="6100996" cy="3414524"/>
          </a:xfrm>
          <a:prstGeom prst="rect">
            <a:avLst/>
          </a:prstGeom>
          <a:noFill/>
        </p:spPr>
        <p:txBody>
          <a:bodyPr wrap="square">
            <a:spAutoFit/>
          </a:bodyPr>
          <a:lstStyle/>
          <a:p>
            <a:pPr marL="0" marR="0">
              <a:lnSpc>
                <a:spcPct val="115000"/>
              </a:lnSpc>
              <a:spcAft>
                <a:spcPts val="800"/>
              </a:spcAft>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Anomaly &amp; Forecast Analysis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Anomaly Detection &amp; Forecasting</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Detected unusual spikes and drops using conditional formatting</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Spikes observed during holidays and events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Excel Forecast Sheet used to predict future demand</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Seasonal patterns identified</a:t>
            </a:r>
          </a:p>
        </p:txBody>
      </p:sp>
      <p:graphicFrame>
        <p:nvGraphicFramePr>
          <p:cNvPr id="11" name="Chart 10">
            <a:extLst>
              <a:ext uri="{FF2B5EF4-FFF2-40B4-BE49-F238E27FC236}">
                <a16:creationId xmlns:a16="http://schemas.microsoft.com/office/drawing/2014/main" id="{E57A41EF-4C29-E5B6-CEB2-488B24A9BDB0}"/>
              </a:ext>
            </a:extLst>
          </p:cNvPr>
          <p:cNvGraphicFramePr>
            <a:graphicFrameLocks/>
          </p:cNvGraphicFramePr>
          <p:nvPr>
            <p:extLst>
              <p:ext uri="{D42A27DB-BD31-4B8C-83A1-F6EECF244321}">
                <p14:modId xmlns:p14="http://schemas.microsoft.com/office/powerpoint/2010/main" val="1159357739"/>
              </p:ext>
            </p:extLst>
          </p:nvPr>
        </p:nvGraphicFramePr>
        <p:xfrm>
          <a:off x="232661" y="3569956"/>
          <a:ext cx="6134100" cy="2933700"/>
        </p:xfrm>
        <a:graphic>
          <a:graphicData uri="http://schemas.openxmlformats.org/drawingml/2006/chart">
            <c:chart xmlns:c="http://schemas.openxmlformats.org/drawingml/2006/chart" xmlns:r="http://schemas.openxmlformats.org/officeDocument/2006/relationships" r:id="rId3"/>
          </a:graphicData>
        </a:graphic>
      </p:graphicFrame>
      <p:pic>
        <p:nvPicPr>
          <p:cNvPr id="13" name="Picture 12">
            <a:extLst>
              <a:ext uri="{FF2B5EF4-FFF2-40B4-BE49-F238E27FC236}">
                <a16:creationId xmlns:a16="http://schemas.microsoft.com/office/drawing/2014/main" id="{AFFCF95A-FE60-0DCA-4823-F6BF99AFEB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13645544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5F65-F54B-783A-400B-395F4A9FE92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F788550-F3D0-E1A6-4EEE-7A336A2E5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45" y="14989"/>
            <a:ext cx="12233045" cy="6850505"/>
          </a:xfrm>
          <a:prstGeom prst="rect">
            <a:avLst/>
          </a:prstGeom>
        </p:spPr>
      </p:pic>
      <p:sp>
        <p:nvSpPr>
          <p:cNvPr id="3" name="TextBox 2">
            <a:extLst>
              <a:ext uri="{FF2B5EF4-FFF2-40B4-BE49-F238E27FC236}">
                <a16:creationId xmlns:a16="http://schemas.microsoft.com/office/drawing/2014/main" id="{E291322F-E1D6-18D3-27A1-A8544E23EA5D}"/>
              </a:ext>
            </a:extLst>
          </p:cNvPr>
          <p:cNvSpPr txBox="1"/>
          <p:nvPr/>
        </p:nvSpPr>
        <p:spPr>
          <a:xfrm>
            <a:off x="363512" y="121476"/>
            <a:ext cx="6123480" cy="3023328"/>
          </a:xfrm>
          <a:prstGeom prst="rect">
            <a:avLst/>
          </a:prstGeom>
          <a:noFill/>
        </p:spPr>
        <p:txBody>
          <a:bodyPr wrap="square">
            <a:spAutoFit/>
          </a:bodyPr>
          <a:lstStyle/>
          <a:p>
            <a:pPr marL="0" marR="0">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Key Insights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Key Insights</a:t>
            </a:r>
          </a:p>
          <a:p>
            <a:pPr marL="0" marR="0">
              <a:lnSpc>
                <a:spcPct val="115000"/>
              </a:lnSpc>
              <a:spcAft>
                <a:spcPts val="800"/>
              </a:spcAft>
              <a:buNone/>
            </a:pP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Demand peaks in morning &amp; evening hours</a:t>
            </a:r>
          </a:p>
          <a:p>
            <a:pPr marL="0" marR="0">
              <a:lnSpc>
                <a:spcPct val="115000"/>
              </a:lnSpc>
              <a:spcAft>
                <a:spcPts val="800"/>
              </a:spcAft>
              <a:buNone/>
            </a:pP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Clear weather increases rentals</a:t>
            </a:r>
          </a:p>
          <a:p>
            <a:pPr marL="0" marR="0">
              <a:lnSpc>
                <a:spcPct val="115000"/>
              </a:lnSpc>
              <a:spcAft>
                <a:spcPts val="800"/>
              </a:spcAft>
              <a:buNone/>
            </a:pP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Weekends have higher casual users</a:t>
            </a:r>
          </a:p>
          <a:p>
            <a:pPr marL="0" marR="0">
              <a:lnSpc>
                <a:spcPct val="115000"/>
              </a:lnSpc>
              <a:spcAft>
                <a:spcPts val="800"/>
              </a:spcAft>
              <a:buNone/>
            </a:pP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Rain significantly reduces demand</a:t>
            </a:r>
          </a:p>
          <a:p>
            <a:pPr marL="0" marR="0">
              <a:lnSpc>
                <a:spcPct val="115000"/>
              </a:lnSpc>
              <a:spcAft>
                <a:spcPts val="800"/>
              </a:spcAft>
              <a:buNone/>
            </a:pP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Registered users provide stable demand</a:t>
            </a:r>
          </a:p>
        </p:txBody>
      </p:sp>
      <p:sp>
        <p:nvSpPr>
          <p:cNvPr id="9" name="TextBox 8">
            <a:extLst>
              <a:ext uri="{FF2B5EF4-FFF2-40B4-BE49-F238E27FC236}">
                <a16:creationId xmlns:a16="http://schemas.microsoft.com/office/drawing/2014/main" id="{91A0D0B6-C4E5-81EA-9171-A257D26A3A65}"/>
              </a:ext>
            </a:extLst>
          </p:cNvPr>
          <p:cNvSpPr txBox="1"/>
          <p:nvPr/>
        </p:nvSpPr>
        <p:spPr>
          <a:xfrm>
            <a:off x="393488" y="3305329"/>
            <a:ext cx="6220918" cy="3002360"/>
          </a:xfrm>
          <a:prstGeom prst="rect">
            <a:avLst/>
          </a:prstGeom>
          <a:noFill/>
        </p:spPr>
        <p:txBody>
          <a:bodyPr wrap="square">
            <a:spAutoFit/>
          </a:bodyPr>
          <a:lstStyle/>
          <a:p>
            <a:pPr marL="0" marR="0">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Business Recommendations</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Business Recommendations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Bullet Points:-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Increase bike availability during peak hours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Offer promotions during rainy or low-demand days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Target casual users on weekends with offers</a:t>
            </a:r>
          </a:p>
          <a:p>
            <a:pPr>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Use demand forecasts for better inventory planning</a:t>
            </a:r>
            <a:endParaRPr lang="en-US" dirty="0"/>
          </a:p>
        </p:txBody>
      </p:sp>
      <p:pic>
        <p:nvPicPr>
          <p:cNvPr id="15" name="Picture 14">
            <a:extLst>
              <a:ext uri="{FF2B5EF4-FFF2-40B4-BE49-F238E27FC236}">
                <a16:creationId xmlns:a16="http://schemas.microsoft.com/office/drawing/2014/main" id="{7F365336-BCAC-6DE0-7811-C054B5B6C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spTree>
    <p:extLst>
      <p:ext uri="{BB962C8B-B14F-4D97-AF65-F5344CB8AC3E}">
        <p14:creationId xmlns:p14="http://schemas.microsoft.com/office/powerpoint/2010/main" val="34035197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2BE55-FB52-1202-FE37-37A10C01A02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3A76C5E-75AC-236E-BC89-FC4419150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6799" y="-15788"/>
            <a:ext cx="2235200" cy="931333"/>
          </a:xfrm>
          <a:prstGeom prst="rect">
            <a:avLst/>
          </a:prstGeom>
        </p:spPr>
      </p:pic>
      <p:pic>
        <p:nvPicPr>
          <p:cNvPr id="11" name="Picture 10">
            <a:extLst>
              <a:ext uri="{FF2B5EF4-FFF2-40B4-BE49-F238E27FC236}">
                <a16:creationId xmlns:a16="http://schemas.microsoft.com/office/drawing/2014/main" id="{FB1D3689-9264-4FE6-E5A4-143384756536}"/>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1494296" y="915545"/>
            <a:ext cx="8339251" cy="468742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394660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TotalTime>
  <Words>545</Words>
  <Application>Microsoft Office PowerPoint</Application>
  <PresentationFormat>Widescreen</PresentationFormat>
  <Paragraphs>109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Century Schoolbook</vt:lpstr>
      <vt:lpstr>Segoe UI 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Animesh Kumar</dc:creator>
  <cp:lastModifiedBy>Animesh Kumar</cp:lastModifiedBy>
  <cp:revision>4</cp:revision>
  <dcterms:created xsi:type="dcterms:W3CDTF">2025-12-24T12:02:15Z</dcterms:created>
  <dcterms:modified xsi:type="dcterms:W3CDTF">2025-12-26T16:16:31Z</dcterms:modified>
</cp:coreProperties>
</file>